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4"/>
    <p:sldMasterId id="2147483655" r:id="rId5"/>
  </p:sldMasterIdLst>
  <p:notesMasterIdLst>
    <p:notesMasterId r:id="rId75"/>
  </p:notesMasterIdLst>
  <p:handoutMasterIdLst>
    <p:handoutMasterId r:id="rId76"/>
  </p:handoutMasterIdLst>
  <p:sldIdLst>
    <p:sldId id="256" r:id="rId6"/>
    <p:sldId id="378" r:id="rId7"/>
    <p:sldId id="461" r:id="rId8"/>
    <p:sldId id="447" r:id="rId9"/>
    <p:sldId id="462" r:id="rId10"/>
    <p:sldId id="414" r:id="rId11"/>
    <p:sldId id="465" r:id="rId12"/>
    <p:sldId id="467" r:id="rId13"/>
    <p:sldId id="466" r:id="rId14"/>
    <p:sldId id="469" r:id="rId15"/>
    <p:sldId id="470" r:id="rId16"/>
    <p:sldId id="471" r:id="rId17"/>
    <p:sldId id="472" r:id="rId18"/>
    <p:sldId id="473" r:id="rId19"/>
    <p:sldId id="474" r:id="rId20"/>
    <p:sldId id="475" r:id="rId21"/>
    <p:sldId id="476" r:id="rId22"/>
    <p:sldId id="477" r:id="rId23"/>
    <p:sldId id="478" r:id="rId24"/>
    <p:sldId id="483" r:id="rId25"/>
    <p:sldId id="484" r:id="rId26"/>
    <p:sldId id="481" r:id="rId27"/>
    <p:sldId id="482" r:id="rId28"/>
    <p:sldId id="492" r:id="rId29"/>
    <p:sldId id="500" r:id="rId30"/>
    <p:sldId id="485" r:id="rId31"/>
    <p:sldId id="487" r:id="rId32"/>
    <p:sldId id="488" r:id="rId33"/>
    <p:sldId id="490" r:id="rId34"/>
    <p:sldId id="489" r:id="rId35"/>
    <p:sldId id="491" r:id="rId36"/>
    <p:sldId id="495" r:id="rId37"/>
    <p:sldId id="494" r:id="rId38"/>
    <p:sldId id="525" r:id="rId39"/>
    <p:sldId id="496" r:id="rId40"/>
    <p:sldId id="493" r:id="rId41"/>
    <p:sldId id="497" r:id="rId42"/>
    <p:sldId id="498" r:id="rId43"/>
    <p:sldId id="499" r:id="rId44"/>
    <p:sldId id="501" r:id="rId45"/>
    <p:sldId id="502" r:id="rId46"/>
    <p:sldId id="503" r:id="rId47"/>
    <p:sldId id="504" r:id="rId48"/>
    <p:sldId id="505" r:id="rId49"/>
    <p:sldId id="506" r:id="rId50"/>
    <p:sldId id="509" r:id="rId51"/>
    <p:sldId id="460" r:id="rId52"/>
    <p:sldId id="507" r:id="rId53"/>
    <p:sldId id="511" r:id="rId54"/>
    <p:sldId id="512" r:id="rId55"/>
    <p:sldId id="514" r:id="rId56"/>
    <p:sldId id="516" r:id="rId57"/>
    <p:sldId id="515" r:id="rId58"/>
    <p:sldId id="518" r:id="rId59"/>
    <p:sldId id="517" r:id="rId60"/>
    <p:sldId id="541" r:id="rId61"/>
    <p:sldId id="508" r:id="rId62"/>
    <p:sldId id="526" r:id="rId63"/>
    <p:sldId id="527" r:id="rId64"/>
    <p:sldId id="528" r:id="rId65"/>
    <p:sldId id="529" r:id="rId66"/>
    <p:sldId id="542" r:id="rId67"/>
    <p:sldId id="543" r:id="rId68"/>
    <p:sldId id="519" r:id="rId69"/>
    <p:sldId id="534" r:id="rId70"/>
    <p:sldId id="535" r:id="rId71"/>
    <p:sldId id="538" r:id="rId72"/>
    <p:sldId id="544" r:id="rId73"/>
    <p:sldId id="385" r:id="rId74"/>
  </p:sldIdLst>
  <p:sldSz cx="9899650" cy="6840538"/>
  <p:notesSz cx="6743700" cy="9875838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sz="2400" b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orient="horz" pos="4032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orient="horz" pos="240">
          <p15:clr>
            <a:srgbClr val="A4A3A4"/>
          </p15:clr>
        </p15:guide>
        <p15:guide id="6" orient="horz" pos="3312">
          <p15:clr>
            <a:srgbClr val="A4A3A4"/>
          </p15:clr>
        </p15:guide>
        <p15:guide id="7" orient="horz" pos="2736">
          <p15:clr>
            <a:srgbClr val="A4A3A4"/>
          </p15:clr>
        </p15:guide>
        <p15:guide id="8" pos="2976">
          <p15:clr>
            <a:srgbClr val="A4A3A4"/>
          </p15:clr>
        </p15:guide>
        <p15:guide id="9" pos="5904">
          <p15:clr>
            <a:srgbClr val="A4A3A4"/>
          </p15:clr>
        </p15:guide>
        <p15:guide id="10" pos="2592">
          <p15:clr>
            <a:srgbClr val="A4A3A4"/>
          </p15:clr>
        </p15:guide>
        <p15:guide id="11" pos="4232">
          <p15:clr>
            <a:srgbClr val="A4A3A4"/>
          </p15:clr>
        </p15:guide>
        <p15:guide id="12" pos="3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1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AE04"/>
    <a:srgbClr val="D76734"/>
    <a:srgbClr val="4106D4"/>
    <a:srgbClr val="B9D405"/>
    <a:srgbClr val="DDB022"/>
    <a:srgbClr val="E39F03"/>
    <a:srgbClr val="643269"/>
    <a:srgbClr val="960F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35" autoAdjust="0"/>
    <p:restoredTop sz="61823" autoAdjust="0"/>
  </p:normalViewPr>
  <p:slideViewPr>
    <p:cSldViewPr>
      <p:cViewPr varScale="1">
        <p:scale>
          <a:sx n="82" d="100"/>
          <a:sy n="82" d="100"/>
        </p:scale>
        <p:origin x="1694" y="77"/>
      </p:cViewPr>
      <p:guideLst>
        <p:guide orient="horz" pos="1584"/>
        <p:guide orient="horz" pos="4032"/>
        <p:guide orient="horz" pos="3888"/>
        <p:guide orient="horz" pos="2160"/>
        <p:guide orient="horz" pos="240"/>
        <p:guide orient="horz" pos="3312"/>
        <p:guide orient="horz" pos="2736"/>
        <p:guide pos="2976"/>
        <p:guide pos="5904"/>
        <p:guide pos="2592"/>
        <p:guide pos="4232"/>
        <p:guide pos="336"/>
      </p:guideLst>
    </p:cSldViewPr>
  </p:slideViewPr>
  <p:outlineViewPr>
    <p:cViewPr>
      <p:scale>
        <a:sx n="33" d="100"/>
        <a:sy n="33" d="100"/>
      </p:scale>
      <p:origin x="0" y="213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028" y="-96"/>
      </p:cViewPr>
      <p:guideLst>
        <p:guide orient="horz" pos="3111"/>
        <p:guide pos="21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a Corona Ruiz" userId="d6984592-1d35-4f17-9672-76dd0092c776" providerId="ADAL" clId="{35921903-30CD-482C-B8AF-4AB30A3FAF46}"/>
    <pc:docChg chg="modSld">
      <pc:chgData name="Adriana Corona Ruiz" userId="d6984592-1d35-4f17-9672-76dd0092c776" providerId="ADAL" clId="{35921903-30CD-482C-B8AF-4AB30A3FAF46}" dt="2026-02-26T23:40:41.514" v="10" actId="20577"/>
      <pc:docMkLst>
        <pc:docMk/>
      </pc:docMkLst>
      <pc:sldChg chg="modSp mod">
        <pc:chgData name="Adriana Corona Ruiz" userId="d6984592-1d35-4f17-9672-76dd0092c776" providerId="ADAL" clId="{35921903-30CD-482C-B8AF-4AB30A3FAF46}" dt="2026-02-26T23:24:34.718" v="3" actId="20577"/>
        <pc:sldMkLst>
          <pc:docMk/>
          <pc:sldMk cId="1784675051" sldId="476"/>
        </pc:sldMkLst>
        <pc:spChg chg="mod">
          <ac:chgData name="Adriana Corona Ruiz" userId="d6984592-1d35-4f17-9672-76dd0092c776" providerId="ADAL" clId="{35921903-30CD-482C-B8AF-4AB30A3FAF46}" dt="2026-02-26T23:24:34.718" v="3" actId="20577"/>
          <ac:spMkLst>
            <pc:docMk/>
            <pc:sldMk cId="1784675051" sldId="476"/>
            <ac:spMk id="2" creationId="{00000000-0000-0000-0000-000000000000}"/>
          </ac:spMkLst>
        </pc:spChg>
      </pc:sldChg>
      <pc:sldChg chg="modSp mod">
        <pc:chgData name="Adriana Corona Ruiz" userId="d6984592-1d35-4f17-9672-76dd0092c776" providerId="ADAL" clId="{35921903-30CD-482C-B8AF-4AB30A3FAF46}" dt="2026-02-26T23:40:41.514" v="10" actId="20577"/>
        <pc:sldMkLst>
          <pc:docMk/>
          <pc:sldMk cId="3735015729" sldId="491"/>
        </pc:sldMkLst>
        <pc:spChg chg="mod">
          <ac:chgData name="Adriana Corona Ruiz" userId="d6984592-1d35-4f17-9672-76dd0092c776" providerId="ADAL" clId="{35921903-30CD-482C-B8AF-4AB30A3FAF46}" dt="2026-02-26T23:40:41.514" v="10" actId="20577"/>
          <ac:spMkLst>
            <pc:docMk/>
            <pc:sldMk cId="3735015729" sldId="491"/>
            <ac:spMk id="1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t" anchorCtr="0" compatLnSpc="1">
            <a:prstTxWarp prst="textNoShape">
              <a:avLst/>
            </a:prstTxWarp>
          </a:bodyPr>
          <a:lstStyle>
            <a:lvl1pPr defTabSz="908050">
              <a:defRPr sz="1200" b="0" baseline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0638" y="0"/>
            <a:ext cx="2930525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 b="0" baseline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50375"/>
            <a:ext cx="2928938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b" anchorCtr="0" compatLnSpc="1">
            <a:prstTxWarp prst="textNoShape">
              <a:avLst/>
            </a:prstTxWarp>
          </a:bodyPr>
          <a:lstStyle>
            <a:lvl1pPr defTabSz="908050">
              <a:defRPr sz="1200" b="0" baseline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0638" y="9350375"/>
            <a:ext cx="2930525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00" tIns="45400" rIns="90800" bIns="45400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b="0" baseline="0"/>
            </a:lvl1pPr>
          </a:lstStyle>
          <a:p>
            <a:pPr>
              <a:defRPr/>
            </a:pPr>
            <a:fld id="{07793C71-08D8-457F-AD68-D4AB1DAD833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5022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baseline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9525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baseline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2150" y="741363"/>
            <a:ext cx="5359400" cy="3703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91063"/>
            <a:ext cx="5394325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2258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baseline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9525" y="9380538"/>
            <a:ext cx="292258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baseline="0"/>
            </a:lvl1pPr>
          </a:lstStyle>
          <a:p>
            <a:pPr>
              <a:defRPr/>
            </a:pPr>
            <a:fld id="{62D5E9ED-C587-4E76-82FC-95349AC0838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14349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8742D8-AD9C-41D6-9D8E-4CFAF1842C32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7BB17-6609-42A6-9CAA-0F338745CC7D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7BB17-6609-42A6-9CAA-0F338745CC7D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7BB17-6609-42A6-9CAA-0F338745CC7D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7BB17-6609-42A6-9CAA-0F338745CC7D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6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7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8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9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10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11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12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13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49300" marR="0" lvl="2" indent="-241300" algn="l" defTabSz="190500" rtl="0" eaLnBrk="0" fontAlgn="base" latinLnBrk="0" hangingPunct="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808080"/>
              </a:buClr>
              <a:buSzTx/>
              <a:buFontTx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SEQUENTIAL : permite procesar registros secuencialmente, se leen o actualizan en el mismo  orden en el que se encuentran.</a:t>
            </a:r>
          </a:p>
          <a:p>
            <a:pPr marL="749300" marR="0" lvl="2" indent="-241300" algn="l" defTabSz="190500" rtl="0" eaLnBrk="0" fontAlgn="base" latinLnBrk="0" hangingPunct="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808080"/>
              </a:buClr>
              <a:buSzTx/>
              <a:buFontTx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-RANDOM: permite acceder directa y aleatoriamente a cualquier registro del fichero.</a:t>
            </a:r>
          </a:p>
          <a:p>
            <a:pPr marL="749300" marR="0" lvl="2" indent="-241300" algn="l" defTabSz="190500" rtl="0" eaLnBrk="0" fontAlgn="base" latinLnBrk="0" hangingPunct="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808080"/>
              </a:buClr>
              <a:buSzTx/>
              <a:buFontTx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-DYNAMIC: permite acceso directo a un determinado registro lógico y después secuencialmente, todos los grabados a continuación hasta final de fichero.</a:t>
            </a:r>
          </a:p>
          <a:p>
            <a:endParaRPr lang="es-E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14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/>
              <a:t>Utilities</a:t>
            </a:r>
          </a:p>
          <a:p>
            <a:endParaRPr lang="es-ES" b="1"/>
          </a:p>
          <a:p>
            <a:r>
              <a:rPr lang="es-ES"/>
              <a:t>Tenemos tres tipos de utilidades:</a:t>
            </a:r>
          </a:p>
          <a:p>
            <a:pPr>
              <a:buFontTx/>
              <a:buChar char="•"/>
            </a:pPr>
            <a:r>
              <a:rPr lang="es-ES"/>
              <a:t>Programas de utilidad del sistema  (se utilizan para mantener datos de control del sistema)</a:t>
            </a:r>
          </a:p>
          <a:p>
            <a:pPr>
              <a:buFontTx/>
              <a:buChar char="•"/>
            </a:pPr>
            <a:r>
              <a:rPr lang="es-ES"/>
              <a:t>Programas de utilidad de archivos (se utilizan para crear, modificar, listar o reorganizar archivos)</a:t>
            </a:r>
          </a:p>
          <a:p>
            <a:pPr>
              <a:buFontTx/>
              <a:buChar char="•"/>
            </a:pPr>
            <a:r>
              <a:rPr lang="es-ES"/>
              <a:t>Programas de utilidad independientes (se utilizan para preparar dispositivos para uso del sistema)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15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16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17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18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19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20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21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22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23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24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25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26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27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28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29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7BB17-6609-42A6-9CAA-0F338745CC7D}" type="slidenum">
              <a:rPr lang="es-ES" smtClean="0"/>
              <a:pPr/>
              <a:t>30</a:t>
            </a:fld>
            <a:endParaRPr lang="es-ES" dirty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31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32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33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34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35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36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37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38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39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7BB17-6609-42A6-9CAA-0F338745CC7D}" type="slidenum">
              <a:rPr lang="es-ES" smtClean="0"/>
              <a:pPr/>
              <a:t>40</a:t>
            </a:fld>
            <a:endParaRPr lang="es-ES" dirty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41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42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43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44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7BB17-6609-42A6-9CAA-0F338745CC7D}" type="slidenum">
              <a:rPr lang="es-ES" smtClean="0"/>
              <a:pPr/>
              <a:t>45</a:t>
            </a:fld>
            <a:endParaRPr lang="es-ES" dirty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46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050CB1-511A-4C10-8C4C-C655FD41E3BF}" type="slidenum">
              <a:rPr lang="en-US"/>
              <a:pPr/>
              <a:t>47</a:t>
            </a:fld>
            <a:endParaRPr lang="en-US"/>
          </a:p>
        </p:txBody>
      </p:sp>
      <p:sp>
        <p:nvSpPr>
          <p:cNvPr id="101376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6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9873" y="4691615"/>
            <a:ext cx="4943954" cy="4443621"/>
          </a:xfrm>
          <a:prstGeom prst="rect">
            <a:avLst/>
          </a:prstGeom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b="1" dirty="0"/>
              <a:t>Reformateo de registros: OUTREC FIELDS</a:t>
            </a:r>
          </a:p>
          <a:p>
            <a:endParaRPr lang="es-ES" b="1" dirty="0"/>
          </a:p>
          <a:p>
            <a:r>
              <a:rPr lang="es-ES" dirty="0"/>
              <a:t>Indica la localización y la longitud de los campos que van a aparecer en el registro de salida. El resto de campos que no se especifica se eliminan.</a:t>
            </a:r>
          </a:p>
          <a:p>
            <a:endParaRPr lang="es-ES" dirty="0"/>
          </a:p>
          <a:p>
            <a:r>
              <a:rPr lang="es-ES" dirty="0"/>
              <a:t>Otra forma de reformatear sería (20X,1,100,10X) siendo 20X blancos que se colocan antes del registro y 10X que se colocan después del registro.</a:t>
            </a:r>
          </a:p>
          <a:p>
            <a:endParaRPr lang="es-ES" dirty="0"/>
          </a:p>
          <a:p>
            <a:r>
              <a:rPr lang="es-ES" dirty="0"/>
              <a:t>Se puede usar INREC, siendo reformateados los registros antes de ordenarse.</a:t>
            </a:r>
          </a:p>
          <a:p>
            <a:endParaRPr lang="es-ES" dirty="0"/>
          </a:p>
          <a:p>
            <a:endParaRPr lang="es-E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7BB17-6609-42A6-9CAA-0F338745CC7D}" type="slidenum">
              <a:rPr lang="es-ES" smtClean="0"/>
              <a:pPr/>
              <a:t>48</a:t>
            </a:fld>
            <a:endParaRPr lang="es-ES" dirty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49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50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51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52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53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54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55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050CB1-511A-4C10-8C4C-C655FD41E3BF}" type="slidenum">
              <a:rPr lang="en-US"/>
              <a:pPr/>
              <a:t>56</a:t>
            </a:fld>
            <a:endParaRPr lang="en-US"/>
          </a:p>
        </p:txBody>
      </p:sp>
      <p:sp>
        <p:nvSpPr>
          <p:cNvPr id="101376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6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9873" y="4691615"/>
            <a:ext cx="4943954" cy="4443621"/>
          </a:xfrm>
          <a:prstGeom prst="rect">
            <a:avLst/>
          </a:prstGeom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b="1" dirty="0"/>
              <a:t>Reformateo de registros: OUTREC FIELDS</a:t>
            </a:r>
          </a:p>
          <a:p>
            <a:endParaRPr lang="es-ES" b="1" dirty="0"/>
          </a:p>
          <a:p>
            <a:r>
              <a:rPr lang="es-ES" dirty="0"/>
              <a:t>Indica la localización y la longitud de los campos que van a aparecer en el registro de salida. El resto de campos que no se especifica se eliminan.</a:t>
            </a:r>
          </a:p>
          <a:p>
            <a:endParaRPr lang="es-ES" dirty="0"/>
          </a:p>
          <a:p>
            <a:r>
              <a:rPr lang="es-ES" dirty="0"/>
              <a:t>Otra forma de reformatear sería (20X,1,100,10X) siendo 20X blancos que se colocan antes del registro y 10X que se colocan después del registro.</a:t>
            </a:r>
          </a:p>
          <a:p>
            <a:endParaRPr lang="es-ES" dirty="0"/>
          </a:p>
          <a:p>
            <a:r>
              <a:rPr lang="es-ES" dirty="0"/>
              <a:t>Se puede usar INREC, siendo reformateados los registros antes de ordenarse.</a:t>
            </a:r>
          </a:p>
          <a:p>
            <a:endParaRPr lang="es-ES" dirty="0"/>
          </a:p>
          <a:p>
            <a:endParaRPr lang="es-E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7BB17-6609-42A6-9CAA-0F338745CC7D}" type="slidenum">
              <a:rPr lang="es-ES" smtClean="0"/>
              <a:pPr/>
              <a:t>57</a:t>
            </a:fld>
            <a:endParaRPr lang="es-ES" dirty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58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59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60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61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050CB1-511A-4C10-8C4C-C655FD41E3BF}" type="slidenum">
              <a:rPr lang="en-US"/>
              <a:pPr/>
              <a:t>62</a:t>
            </a:fld>
            <a:endParaRPr lang="en-US"/>
          </a:p>
        </p:txBody>
      </p:sp>
      <p:sp>
        <p:nvSpPr>
          <p:cNvPr id="101376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6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9873" y="4691615"/>
            <a:ext cx="4943954" cy="4443621"/>
          </a:xfrm>
          <a:prstGeom prst="rect">
            <a:avLst/>
          </a:prstGeom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b="1" dirty="0"/>
              <a:t>Reformateo de registros: OUTREC FIELDS</a:t>
            </a:r>
          </a:p>
          <a:p>
            <a:endParaRPr lang="es-ES" b="1" dirty="0"/>
          </a:p>
          <a:p>
            <a:r>
              <a:rPr lang="es-ES" dirty="0"/>
              <a:t>Indica la localización y la longitud de los campos que van a aparecer en el registro de salida. El resto de campos que no se especifica se eliminan.</a:t>
            </a:r>
          </a:p>
          <a:p>
            <a:endParaRPr lang="es-ES" dirty="0"/>
          </a:p>
          <a:p>
            <a:r>
              <a:rPr lang="es-ES" dirty="0"/>
              <a:t>Otra forma de reformatear sería (20X,1,100,10X) siendo 20X blancos que se colocan antes del registro y 10X que se colocan después del registro.</a:t>
            </a:r>
          </a:p>
          <a:p>
            <a:endParaRPr lang="es-ES" dirty="0"/>
          </a:p>
          <a:p>
            <a:r>
              <a:rPr lang="es-ES" dirty="0"/>
              <a:t>Se puede usar INREC, siendo reformateados los registros antes de ordenarse.</a:t>
            </a:r>
          </a:p>
          <a:p>
            <a:endParaRPr lang="es-ES" dirty="0"/>
          </a:p>
          <a:p>
            <a:endParaRPr lang="es-ES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050CB1-511A-4C10-8C4C-C655FD41E3BF}" type="slidenum">
              <a:rPr lang="en-US"/>
              <a:pPr/>
              <a:t>63</a:t>
            </a:fld>
            <a:endParaRPr lang="en-US"/>
          </a:p>
        </p:txBody>
      </p:sp>
      <p:sp>
        <p:nvSpPr>
          <p:cNvPr id="101376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6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9873" y="4691615"/>
            <a:ext cx="4943954" cy="4443621"/>
          </a:xfrm>
          <a:prstGeom prst="rect">
            <a:avLst/>
          </a:prstGeom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b="1" dirty="0"/>
              <a:t>Reformateo de registros: OUTREC FIELDS</a:t>
            </a:r>
          </a:p>
          <a:p>
            <a:endParaRPr lang="es-ES" b="1" dirty="0"/>
          </a:p>
          <a:p>
            <a:r>
              <a:rPr lang="es-ES" dirty="0"/>
              <a:t>Indica la localización y la longitud de los campos que van a aparecer en el registro de salida. El resto de campos que no se especifica se eliminan.</a:t>
            </a:r>
          </a:p>
          <a:p>
            <a:endParaRPr lang="es-ES" dirty="0"/>
          </a:p>
          <a:p>
            <a:r>
              <a:rPr lang="es-ES" dirty="0"/>
              <a:t>Otra forma de reformatear sería (20X,1,100,10X) siendo 20X blancos que se colocan antes del registro y 10X que se colocan después del registro.</a:t>
            </a:r>
          </a:p>
          <a:p>
            <a:endParaRPr lang="es-ES" dirty="0"/>
          </a:p>
          <a:p>
            <a:r>
              <a:rPr lang="es-ES" dirty="0"/>
              <a:t>Se puede usar INREC, siendo reformateados los registros antes de ordenarse.</a:t>
            </a:r>
          </a:p>
          <a:p>
            <a:endParaRPr lang="es-ES" dirty="0"/>
          </a:p>
          <a:p>
            <a:endParaRPr lang="es-ES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7BB17-6609-42A6-9CAA-0F338745CC7D}" type="slidenum">
              <a:rPr lang="es-ES" smtClean="0"/>
              <a:pPr/>
              <a:t>64</a:t>
            </a:fld>
            <a:endParaRPr lang="es-ES" dirty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65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66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9153-BF3D-4622-8184-5522D785F4B4}" type="slidenum">
              <a:rPr lang="en-US"/>
              <a:pPr/>
              <a:t>67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050CB1-511A-4C10-8C4C-C655FD41E3BF}" type="slidenum">
              <a:rPr lang="en-US"/>
              <a:pPr/>
              <a:t>68</a:t>
            </a:fld>
            <a:endParaRPr lang="en-US"/>
          </a:p>
        </p:txBody>
      </p:sp>
      <p:sp>
        <p:nvSpPr>
          <p:cNvPr id="101376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03263" y="746125"/>
            <a:ext cx="5340350" cy="3690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6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9873" y="4691615"/>
            <a:ext cx="4943954" cy="4443621"/>
          </a:xfrm>
          <a:prstGeom prst="rect">
            <a:avLst/>
          </a:prstGeom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b="1" dirty="0"/>
              <a:t>Reformateo de registros: OUTREC FIELDS</a:t>
            </a:r>
          </a:p>
          <a:p>
            <a:endParaRPr lang="es-ES" b="1" dirty="0"/>
          </a:p>
          <a:p>
            <a:r>
              <a:rPr lang="es-ES" dirty="0"/>
              <a:t>Indica la localización y la longitud de los campos que van a aparecer en el registro de salida. El resto de campos que no se especifica se eliminan.</a:t>
            </a:r>
          </a:p>
          <a:p>
            <a:endParaRPr lang="es-ES" dirty="0"/>
          </a:p>
          <a:p>
            <a:r>
              <a:rPr lang="es-ES" dirty="0"/>
              <a:t>Otra forma de reformatear sería (20X,1,100,10X) siendo 20X blancos que se colocan antes del registro y 10X que se colocan después del registro.</a:t>
            </a:r>
          </a:p>
          <a:p>
            <a:endParaRPr lang="es-ES" dirty="0"/>
          </a:p>
          <a:p>
            <a:r>
              <a:rPr lang="es-ES" dirty="0"/>
              <a:t>Se puede usar INREC, siendo reformateados los registros antes de ordenarse.</a:t>
            </a:r>
          </a:p>
          <a:p>
            <a:endParaRPr lang="es-ES" dirty="0"/>
          </a:p>
          <a:p>
            <a:endParaRPr lang="es-ES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 noChangeArrowheads="1"/>
          </p:cNvSpPr>
          <p:nvPr/>
        </p:nvSpPr>
        <p:spPr bwMode="auto">
          <a:xfrm>
            <a:off x="3819121" y="9379915"/>
            <a:ext cx="2923005" cy="494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841" tIns="45420" rIns="90841" bIns="45420" anchor="b"/>
          <a:lstStyle/>
          <a:p>
            <a:pPr algn="r"/>
            <a:fld id="{140B0FEA-D57F-4229-A5D4-2FBB92AC0B7D}" type="slidenum">
              <a:rPr lang="es-ES" sz="1300"/>
              <a:pPr algn="r"/>
              <a:t>69</a:t>
            </a:fld>
            <a:endParaRPr lang="es-ES" sz="13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_trad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0" y="4256088"/>
            <a:ext cx="6319838" cy="2584450"/>
          </a:xfrm>
          <a:prstGeom prst="rect">
            <a:avLst/>
          </a:prstGeom>
          <a:solidFill>
            <a:srgbClr val="9AAE04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303" tIns="45651" rIns="91303" bIns="45651" anchor="ctr"/>
          <a:lstStyle/>
          <a:p>
            <a:pPr algn="ctr" defTabSz="912813" eaLnBrk="0" hangingPunct="0">
              <a:spcBef>
                <a:spcPct val="50000"/>
              </a:spcBef>
              <a:defRPr/>
            </a:pPr>
            <a:endParaRPr lang="es-ES_tradnl" sz="2500" b="0" baseline="0">
              <a:solidFill>
                <a:srgbClr val="B9D405"/>
              </a:solidFill>
              <a:latin typeface="Arial" charset="0"/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76288" y="3317875"/>
            <a:ext cx="5154612" cy="827088"/>
          </a:xfrm>
          <a:ln/>
        </p:spPr>
        <p:txBody>
          <a:bodyPr/>
          <a:lstStyle>
            <a:lvl1pPr>
              <a:defRPr>
                <a:solidFill>
                  <a:srgbClr val="9AAE04"/>
                </a:solidFill>
              </a:defRPr>
            </a:lvl1pPr>
          </a:lstStyle>
          <a:p>
            <a:r>
              <a:rPr lang="es-ES_tradnl" dirty="0"/>
              <a:t>Clic para editar estilo título patrón</a:t>
            </a:r>
          </a:p>
        </p:txBody>
      </p:sp>
      <p:sp>
        <p:nvSpPr>
          <p:cNvPr id="154628" name="Rectangle 4"/>
          <p:cNvSpPr>
            <a:spLocks noGrp="1" noChangeAspect="1" noChangeArrowheads="1"/>
          </p:cNvSpPr>
          <p:nvPr>
            <p:ph type="subTitle" idx="1"/>
          </p:nvPr>
        </p:nvSpPr>
        <p:spPr>
          <a:xfrm>
            <a:off x="809625" y="4457700"/>
            <a:ext cx="4927600" cy="620713"/>
          </a:xfrm>
          <a:ln/>
        </p:spPr>
        <p:txBody>
          <a:bodyPr lIns="0" tIns="0" rIns="0" bIns="0"/>
          <a:lstStyle>
            <a:lvl1pPr marL="0" indent="0">
              <a:spcBef>
                <a:spcPct val="0"/>
              </a:spcBef>
              <a:defRPr sz="2000">
                <a:solidFill>
                  <a:schemeClr val="bg1"/>
                </a:solidFill>
              </a:defRPr>
            </a:lvl1pPr>
          </a:lstStyle>
          <a:p>
            <a:r>
              <a:rPr lang="es-ES_tradnl"/>
              <a:t>Haga clic para modificar el estilo de subtítulo del patrón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696" y="280492"/>
            <a:ext cx="3943350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82638" y="4395788"/>
            <a:ext cx="8413750" cy="1358900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82638" y="2898775"/>
            <a:ext cx="8413750" cy="14970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95300" y="1595438"/>
            <a:ext cx="4378325" cy="4514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26025" y="1595438"/>
            <a:ext cx="4378325" cy="4514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09050" cy="1139825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95300" y="1531938"/>
            <a:ext cx="4373563" cy="6381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95300" y="2170113"/>
            <a:ext cx="4373563" cy="39401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029200" y="1531938"/>
            <a:ext cx="4375150" cy="6381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029200" y="2170113"/>
            <a:ext cx="4375150" cy="39401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5963" cy="1158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70325" y="273050"/>
            <a:ext cx="5534025" cy="58372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5300" y="1431925"/>
            <a:ext cx="3255963" cy="46783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39925" y="4787900"/>
            <a:ext cx="5940425" cy="5651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39925" y="611188"/>
            <a:ext cx="5940425" cy="41036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39925" y="5353050"/>
            <a:ext cx="5940425" cy="803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177088" y="407988"/>
            <a:ext cx="2227262" cy="57023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95300" y="407988"/>
            <a:ext cx="6529388" cy="57023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42950" y="2125663"/>
            <a:ext cx="8413750" cy="146526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84313" y="3876675"/>
            <a:ext cx="6931025" cy="1747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09050" cy="113982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95300" y="1595438"/>
            <a:ext cx="8909050" cy="4514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82638" y="4395788"/>
            <a:ext cx="8413750" cy="135890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82638" y="2898775"/>
            <a:ext cx="8413750" cy="149701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09050" cy="113982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95300" y="1595438"/>
            <a:ext cx="4378325" cy="45148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26025" y="1595438"/>
            <a:ext cx="4378325" cy="45148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09050" cy="1139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95300" y="1531938"/>
            <a:ext cx="4373563" cy="638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95300" y="2170113"/>
            <a:ext cx="4373563" cy="39401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029200" y="1531938"/>
            <a:ext cx="4375150" cy="638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029200" y="2170113"/>
            <a:ext cx="4375150" cy="39401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09050" cy="113982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5963" cy="11588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70325" y="273050"/>
            <a:ext cx="5534025" cy="583723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5300" y="1431925"/>
            <a:ext cx="3255963" cy="4678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39925" y="4787900"/>
            <a:ext cx="5940425" cy="5651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39925" y="611188"/>
            <a:ext cx="5940425" cy="4103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39925" y="5353050"/>
            <a:ext cx="5940425" cy="803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09050" cy="113982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95300" y="1595438"/>
            <a:ext cx="8909050" cy="4514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177088" y="274638"/>
            <a:ext cx="2227262" cy="5835650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29388" cy="58356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07988"/>
            <a:ext cx="5618163" cy="379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Clic para editar estilo título patrón</a:t>
            </a:r>
            <a:endParaRPr lang="en-US"/>
          </a:p>
        </p:txBody>
      </p:sp>
      <p:sp>
        <p:nvSpPr>
          <p:cNvPr id="153604" name="Rectangle 4"/>
          <p:cNvSpPr>
            <a:spLocks noChangeArrowheads="1"/>
          </p:cNvSpPr>
          <p:nvPr userDrawn="1"/>
        </p:nvSpPr>
        <p:spPr bwMode="auto">
          <a:xfrm>
            <a:off x="8982075" y="6367463"/>
            <a:ext cx="576263" cy="293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fld id="{7444FA96-5FA9-4AA9-A3A1-CCEA32E4C245}" type="slidenum">
              <a:rPr lang="es-ES" sz="1400" b="0" baseline="0">
                <a:solidFill>
                  <a:srgbClr val="808080"/>
                </a:solidFill>
                <a:latin typeface="Arial" charset="0"/>
              </a:rPr>
              <a:pPr algn="r">
                <a:defRPr/>
              </a:pPr>
              <a:t>‹Nº›</a:t>
            </a:fld>
            <a:endParaRPr lang="es-ES" sz="1400" b="0" baseline="0">
              <a:solidFill>
                <a:srgbClr val="808080"/>
              </a:solidFill>
              <a:latin typeface="Arial" charset="0"/>
            </a:endParaRPr>
          </a:p>
        </p:txBody>
      </p:sp>
      <p:sp>
        <p:nvSpPr>
          <p:cNvPr id="153605" name="Rectangle 5"/>
          <p:cNvSpPr>
            <a:spLocks noChangeArrowheads="1"/>
          </p:cNvSpPr>
          <p:nvPr userDrawn="1"/>
        </p:nvSpPr>
        <p:spPr bwMode="auto">
          <a:xfrm>
            <a:off x="-250825" y="0"/>
            <a:ext cx="215900" cy="198438"/>
          </a:xfrm>
          <a:prstGeom prst="rect">
            <a:avLst/>
          </a:prstGeom>
          <a:solidFill>
            <a:srgbClr val="B9D405"/>
          </a:solidFill>
          <a:ln w="412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36000" tIns="36000" rIns="36000" bIns="36000"/>
          <a:lstStyle/>
          <a:p>
            <a:pPr algn="ctr">
              <a:lnSpc>
                <a:spcPct val="75000"/>
              </a:lnSpc>
              <a:defRPr/>
            </a:pPr>
            <a:r>
              <a:rPr lang="es-ES" sz="1400">
                <a:latin typeface="Arial" charset="0"/>
              </a:rPr>
              <a:t>1</a:t>
            </a:r>
          </a:p>
        </p:txBody>
      </p:sp>
      <p:sp>
        <p:nvSpPr>
          <p:cNvPr id="153606" name="Rectangle 6"/>
          <p:cNvSpPr>
            <a:spLocks noChangeArrowheads="1"/>
          </p:cNvSpPr>
          <p:nvPr userDrawn="1"/>
        </p:nvSpPr>
        <p:spPr bwMode="auto">
          <a:xfrm>
            <a:off x="-250825" y="250825"/>
            <a:ext cx="215900" cy="198438"/>
          </a:xfrm>
          <a:prstGeom prst="rect">
            <a:avLst/>
          </a:prstGeom>
          <a:solidFill>
            <a:srgbClr val="808080"/>
          </a:solidFill>
          <a:ln w="412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18000" tIns="18000" rIns="18000" bIns="18000"/>
          <a:lstStyle/>
          <a:p>
            <a:pPr algn="ctr">
              <a:defRPr/>
            </a:pPr>
            <a:r>
              <a:rPr lang="es-ES" sz="1200">
                <a:latin typeface="Arial" charset="0"/>
              </a:rPr>
              <a:t>2</a:t>
            </a:r>
          </a:p>
        </p:txBody>
      </p:sp>
      <p:sp>
        <p:nvSpPr>
          <p:cNvPr id="153607" name="Rectangle 7"/>
          <p:cNvSpPr>
            <a:spLocks noChangeArrowheads="1"/>
          </p:cNvSpPr>
          <p:nvPr userDrawn="1"/>
        </p:nvSpPr>
        <p:spPr bwMode="auto">
          <a:xfrm>
            <a:off x="-250825" y="1511300"/>
            <a:ext cx="215900" cy="198438"/>
          </a:xfrm>
          <a:prstGeom prst="rect">
            <a:avLst/>
          </a:prstGeom>
          <a:solidFill>
            <a:srgbClr val="E39F03"/>
          </a:solidFill>
          <a:ln w="412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18000" tIns="18000" rIns="18000" bIns="18000"/>
          <a:lstStyle/>
          <a:p>
            <a:pPr algn="ctr">
              <a:defRPr/>
            </a:pPr>
            <a:r>
              <a:rPr lang="es-ES" sz="1200">
                <a:latin typeface="Arial" charset="0"/>
              </a:rPr>
              <a:t>7</a:t>
            </a:r>
          </a:p>
        </p:txBody>
      </p:sp>
      <p:sp>
        <p:nvSpPr>
          <p:cNvPr id="153608" name="Rectangle 8"/>
          <p:cNvSpPr>
            <a:spLocks noChangeArrowheads="1"/>
          </p:cNvSpPr>
          <p:nvPr userDrawn="1"/>
        </p:nvSpPr>
        <p:spPr bwMode="auto">
          <a:xfrm>
            <a:off x="-250825" y="2014538"/>
            <a:ext cx="215900" cy="198437"/>
          </a:xfrm>
          <a:prstGeom prst="rect">
            <a:avLst/>
          </a:prstGeom>
          <a:solidFill>
            <a:srgbClr val="798D44"/>
          </a:solidFill>
          <a:ln w="412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18000" tIns="18000" rIns="18000" bIns="18000"/>
          <a:lstStyle/>
          <a:p>
            <a:pPr algn="ctr">
              <a:defRPr/>
            </a:pPr>
            <a:r>
              <a:rPr lang="es-ES" sz="1200">
                <a:latin typeface="Arial" charset="0"/>
              </a:rPr>
              <a:t>9</a:t>
            </a:r>
          </a:p>
        </p:txBody>
      </p:sp>
      <p:sp>
        <p:nvSpPr>
          <p:cNvPr id="153609" name="Rectangle 9"/>
          <p:cNvSpPr>
            <a:spLocks noChangeArrowheads="1"/>
          </p:cNvSpPr>
          <p:nvPr userDrawn="1"/>
        </p:nvSpPr>
        <p:spPr bwMode="auto">
          <a:xfrm>
            <a:off x="-250825" y="1762125"/>
            <a:ext cx="215900" cy="198438"/>
          </a:xfrm>
          <a:prstGeom prst="rect">
            <a:avLst/>
          </a:prstGeom>
          <a:solidFill>
            <a:srgbClr val="DDB322"/>
          </a:solidFill>
          <a:ln w="412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18000" tIns="18000" rIns="18000" bIns="18000"/>
          <a:lstStyle/>
          <a:p>
            <a:pPr algn="ctr">
              <a:defRPr/>
            </a:pPr>
            <a:r>
              <a:rPr lang="es-ES" sz="1200">
                <a:latin typeface="Arial" charset="0"/>
              </a:rPr>
              <a:t>8</a:t>
            </a:r>
          </a:p>
        </p:txBody>
      </p:sp>
      <p:sp>
        <p:nvSpPr>
          <p:cNvPr id="153611" name="Rectangle 11"/>
          <p:cNvSpPr>
            <a:spLocks noChangeArrowheads="1"/>
          </p:cNvSpPr>
          <p:nvPr userDrawn="1"/>
        </p:nvSpPr>
        <p:spPr bwMode="auto">
          <a:xfrm>
            <a:off x="-250825" y="2517775"/>
            <a:ext cx="215900" cy="198438"/>
          </a:xfrm>
          <a:prstGeom prst="rect">
            <a:avLst/>
          </a:prstGeom>
          <a:solidFill>
            <a:srgbClr val="205390"/>
          </a:solidFill>
          <a:ln w="412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18000" tIns="18000" rIns="18000" bIns="18000"/>
          <a:lstStyle/>
          <a:p>
            <a:pPr algn="ctr">
              <a:defRPr/>
            </a:pPr>
            <a:r>
              <a:rPr lang="es-ES" sz="1200">
                <a:solidFill>
                  <a:schemeClr val="bg1"/>
                </a:solidFill>
                <a:latin typeface="Arial" charset="0"/>
              </a:rPr>
              <a:t>11</a:t>
            </a:r>
          </a:p>
        </p:txBody>
      </p:sp>
      <p:sp>
        <p:nvSpPr>
          <p:cNvPr id="153612" name="Rectangle 12"/>
          <p:cNvSpPr>
            <a:spLocks noChangeArrowheads="1"/>
          </p:cNvSpPr>
          <p:nvPr userDrawn="1"/>
        </p:nvSpPr>
        <p:spPr bwMode="auto">
          <a:xfrm>
            <a:off x="-250825" y="503238"/>
            <a:ext cx="215900" cy="198437"/>
          </a:xfrm>
          <a:prstGeom prst="rect">
            <a:avLst/>
          </a:prstGeom>
          <a:solidFill>
            <a:srgbClr val="1994A4"/>
          </a:solidFill>
          <a:ln w="412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18000" tIns="18000" rIns="18000" bIns="18000"/>
          <a:lstStyle/>
          <a:p>
            <a:pPr algn="ctr">
              <a:defRPr/>
            </a:pPr>
            <a:r>
              <a:rPr lang="es-ES" sz="1200">
                <a:latin typeface="Arial" charset="0"/>
              </a:rPr>
              <a:t>3</a:t>
            </a:r>
          </a:p>
        </p:txBody>
      </p:sp>
      <p:sp>
        <p:nvSpPr>
          <p:cNvPr id="153613" name="Rectangle 13"/>
          <p:cNvSpPr>
            <a:spLocks noChangeArrowheads="1"/>
          </p:cNvSpPr>
          <p:nvPr userDrawn="1"/>
        </p:nvSpPr>
        <p:spPr bwMode="auto">
          <a:xfrm>
            <a:off x="-250825" y="755650"/>
            <a:ext cx="215900" cy="198438"/>
          </a:xfrm>
          <a:prstGeom prst="rect">
            <a:avLst/>
          </a:prstGeom>
          <a:solidFill>
            <a:srgbClr val="960F68"/>
          </a:solidFill>
          <a:ln w="412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18000" tIns="18000" rIns="18000" bIns="18000"/>
          <a:lstStyle/>
          <a:p>
            <a:pPr algn="ctr">
              <a:defRPr/>
            </a:pPr>
            <a:r>
              <a:rPr lang="es-ES" sz="1200">
                <a:solidFill>
                  <a:schemeClr val="bg1"/>
                </a:solidFill>
                <a:latin typeface="Arial" charset="0"/>
              </a:rPr>
              <a:t>4</a:t>
            </a:r>
          </a:p>
        </p:txBody>
      </p:sp>
      <p:sp>
        <p:nvSpPr>
          <p:cNvPr id="153614" name="Rectangle 14"/>
          <p:cNvSpPr>
            <a:spLocks noChangeArrowheads="1"/>
          </p:cNvSpPr>
          <p:nvPr userDrawn="1"/>
        </p:nvSpPr>
        <p:spPr bwMode="auto">
          <a:xfrm>
            <a:off x="-250825" y="1006475"/>
            <a:ext cx="215900" cy="198438"/>
          </a:xfrm>
          <a:prstGeom prst="rect">
            <a:avLst/>
          </a:prstGeom>
          <a:solidFill>
            <a:srgbClr val="643269"/>
          </a:solidFill>
          <a:ln w="412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18000" tIns="18000" rIns="18000" bIns="18000"/>
          <a:lstStyle/>
          <a:p>
            <a:pPr algn="ctr">
              <a:defRPr/>
            </a:pPr>
            <a:r>
              <a:rPr lang="es-ES" sz="1200">
                <a:solidFill>
                  <a:schemeClr val="bg1"/>
                </a:solidFill>
                <a:latin typeface="Arial" charset="0"/>
              </a:rPr>
              <a:t>5</a:t>
            </a:r>
          </a:p>
        </p:txBody>
      </p:sp>
      <p:sp>
        <p:nvSpPr>
          <p:cNvPr id="153615" name="Rectangle 15"/>
          <p:cNvSpPr>
            <a:spLocks noChangeArrowheads="1"/>
          </p:cNvSpPr>
          <p:nvPr userDrawn="1"/>
        </p:nvSpPr>
        <p:spPr bwMode="auto">
          <a:xfrm>
            <a:off x="-250825" y="1258888"/>
            <a:ext cx="215900" cy="198437"/>
          </a:xfrm>
          <a:prstGeom prst="rect">
            <a:avLst/>
          </a:prstGeom>
          <a:solidFill>
            <a:srgbClr val="D76734"/>
          </a:solidFill>
          <a:ln w="412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18000" tIns="18000" rIns="18000" bIns="18000"/>
          <a:lstStyle/>
          <a:p>
            <a:pPr algn="ctr">
              <a:defRPr/>
            </a:pPr>
            <a:r>
              <a:rPr lang="es-ES" sz="1200">
                <a:latin typeface="Arial" charset="0"/>
              </a:rPr>
              <a:t>6</a:t>
            </a:r>
          </a:p>
        </p:txBody>
      </p:sp>
      <p:sp>
        <p:nvSpPr>
          <p:cNvPr id="153616" name="Rectangle 16"/>
          <p:cNvSpPr>
            <a:spLocks noChangeArrowheads="1"/>
          </p:cNvSpPr>
          <p:nvPr userDrawn="1"/>
        </p:nvSpPr>
        <p:spPr bwMode="auto">
          <a:xfrm>
            <a:off x="-250825" y="2266950"/>
            <a:ext cx="215900" cy="198438"/>
          </a:xfrm>
          <a:prstGeom prst="rect">
            <a:avLst/>
          </a:prstGeom>
          <a:solidFill>
            <a:srgbClr val="1B72B7"/>
          </a:solidFill>
          <a:ln w="412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18000" tIns="18000" rIns="18000" bIns="18000"/>
          <a:lstStyle/>
          <a:p>
            <a:pPr algn="ctr">
              <a:defRPr/>
            </a:pPr>
            <a:r>
              <a:rPr lang="es-ES" sz="1200">
                <a:latin typeface="Arial" charset="0"/>
              </a:rPr>
              <a:t>10</a:t>
            </a:r>
          </a:p>
        </p:txBody>
      </p:sp>
      <p:sp>
        <p:nvSpPr>
          <p:cNvPr id="153620" name="Rectangle 20"/>
          <p:cNvSpPr>
            <a:spLocks noChangeArrowheads="1"/>
          </p:cNvSpPr>
          <p:nvPr userDrawn="1"/>
        </p:nvSpPr>
        <p:spPr bwMode="auto">
          <a:xfrm>
            <a:off x="-252413" y="2770188"/>
            <a:ext cx="215900" cy="198437"/>
          </a:xfrm>
          <a:prstGeom prst="rect">
            <a:avLst/>
          </a:prstGeom>
          <a:solidFill>
            <a:srgbClr val="0073C2"/>
          </a:solidFill>
          <a:ln w="412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18000" tIns="18000" rIns="18000" bIns="18000"/>
          <a:lstStyle/>
          <a:p>
            <a:pPr algn="ctr">
              <a:defRPr/>
            </a:pPr>
            <a:r>
              <a:rPr lang="es-ES" sz="1200">
                <a:latin typeface="Arial" charset="0"/>
              </a:rPr>
              <a:t>12</a:t>
            </a:r>
          </a:p>
        </p:txBody>
      </p:sp>
      <p:sp>
        <p:nvSpPr>
          <p:cNvPr id="5137" name="Rectangle 3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595438"/>
            <a:ext cx="8909050" cy="4514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Clic para editar estilo texto patrón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169" y="179909"/>
            <a:ext cx="1368152" cy="1049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  <p:sldLayoutId id="2147484138" r:id="rId2"/>
    <p:sldLayoutId id="2147484139" r:id="rId3"/>
    <p:sldLayoutId id="2147484140" r:id="rId4"/>
    <p:sldLayoutId id="2147484141" r:id="rId5"/>
    <p:sldLayoutId id="2147484142" r:id="rId6"/>
    <p:sldLayoutId id="2147484143" r:id="rId7"/>
    <p:sldLayoutId id="2147484144" r:id="rId8"/>
    <p:sldLayoutId id="2147484145" r:id="rId9"/>
    <p:sldLayoutId id="2147484146" r:id="rId10"/>
    <p:sldLayoutId id="2147484147" r:id="rId11"/>
  </p:sldLayoutIdLst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+mj-lt"/>
          <a:ea typeface="+mj-ea"/>
          <a:cs typeface="+mj-cs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</a:defRPr>
      </a:lvl5pPr>
      <a:lvl6pPr marL="457200" algn="l" defTabSz="912813" rtl="0" fontAlgn="base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</a:defRPr>
      </a:lvl6pPr>
      <a:lvl7pPr marL="914400" algn="l" defTabSz="912813" rtl="0" fontAlgn="base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</a:defRPr>
      </a:lvl7pPr>
      <a:lvl8pPr marL="1371600" algn="l" defTabSz="912813" rtl="0" fontAlgn="base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</a:defRPr>
      </a:lvl8pPr>
      <a:lvl9pPr marL="1828800" algn="l" defTabSz="912813" rtl="0" fontAlgn="base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95000"/>
        </a:lnSpc>
        <a:spcBef>
          <a:spcPct val="30000"/>
        </a:spcBef>
        <a:spcAft>
          <a:spcPct val="15000"/>
        </a:spcAft>
        <a:buClr>
          <a:schemeClr val="accent2"/>
        </a:buClr>
        <a:buFont typeface="Wingdings" pitchFamily="2" charset="2"/>
        <a:buChar char="–"/>
        <a:defRPr sz="2100">
          <a:solidFill>
            <a:schemeClr val="bg2"/>
          </a:solidFill>
          <a:latin typeface="+mn-lt"/>
        </a:defRPr>
      </a:lvl2pPr>
      <a:lvl3pPr marL="1143000" indent="-228600" algn="l" rtl="0" eaLnBrk="0" fontAlgn="base" hangingPunct="0">
        <a:lnSpc>
          <a:spcPct val="95000"/>
        </a:lnSpc>
        <a:spcBef>
          <a:spcPct val="30000"/>
        </a:spcBef>
        <a:spcAft>
          <a:spcPct val="15000"/>
        </a:spcAft>
        <a:buClr>
          <a:schemeClr val="accent2"/>
        </a:buClr>
        <a:buFont typeface="Wingdings" pitchFamily="2" charset="2"/>
        <a:buChar char="•"/>
        <a:defRPr sz="2100">
          <a:solidFill>
            <a:schemeClr val="bg2"/>
          </a:solidFill>
          <a:latin typeface="+mn-lt"/>
        </a:defRPr>
      </a:lvl3pPr>
      <a:lvl4pPr marL="1600200" indent="-228600" algn="l" rtl="0" eaLnBrk="0" fontAlgn="base" hangingPunct="0">
        <a:lnSpc>
          <a:spcPct val="95000"/>
        </a:lnSpc>
        <a:spcBef>
          <a:spcPct val="30000"/>
        </a:spcBef>
        <a:spcAft>
          <a:spcPct val="15000"/>
        </a:spcAft>
        <a:buClr>
          <a:schemeClr val="accent2"/>
        </a:buClr>
        <a:buChar char="•"/>
        <a:defRPr sz="2100">
          <a:solidFill>
            <a:schemeClr val="bg2"/>
          </a:solidFill>
          <a:latin typeface="+mn-lt"/>
        </a:defRPr>
      </a:lvl4pPr>
      <a:lvl5pPr marL="2057400" indent="-228600" algn="l" rtl="0" eaLnBrk="0" fontAlgn="base" hangingPunct="0">
        <a:lnSpc>
          <a:spcPct val="95000"/>
        </a:lnSpc>
        <a:spcBef>
          <a:spcPct val="30000"/>
        </a:spcBef>
        <a:spcAft>
          <a:spcPct val="15000"/>
        </a:spcAft>
        <a:buClr>
          <a:schemeClr val="accent2"/>
        </a:buClr>
        <a:buChar char="–"/>
        <a:defRPr sz="2100">
          <a:solidFill>
            <a:schemeClr val="bg2"/>
          </a:solidFill>
          <a:latin typeface="+mn-lt"/>
        </a:defRPr>
      </a:lvl5pPr>
      <a:lvl6pPr marL="2514600" indent="-228600" algn="l" rtl="0" fontAlgn="base">
        <a:lnSpc>
          <a:spcPct val="95000"/>
        </a:lnSpc>
        <a:spcBef>
          <a:spcPct val="30000"/>
        </a:spcBef>
        <a:spcAft>
          <a:spcPct val="15000"/>
        </a:spcAft>
        <a:buClr>
          <a:schemeClr val="accent2"/>
        </a:buClr>
        <a:buChar char="–"/>
        <a:defRPr sz="2100">
          <a:solidFill>
            <a:schemeClr val="bg2"/>
          </a:solidFill>
          <a:latin typeface="+mn-lt"/>
        </a:defRPr>
      </a:lvl6pPr>
      <a:lvl7pPr marL="2971800" indent="-228600" algn="l" rtl="0" fontAlgn="base">
        <a:lnSpc>
          <a:spcPct val="95000"/>
        </a:lnSpc>
        <a:spcBef>
          <a:spcPct val="30000"/>
        </a:spcBef>
        <a:spcAft>
          <a:spcPct val="15000"/>
        </a:spcAft>
        <a:buClr>
          <a:schemeClr val="accent2"/>
        </a:buClr>
        <a:buChar char="–"/>
        <a:defRPr sz="2100">
          <a:solidFill>
            <a:schemeClr val="bg2"/>
          </a:solidFill>
          <a:latin typeface="+mn-lt"/>
        </a:defRPr>
      </a:lvl7pPr>
      <a:lvl8pPr marL="3429000" indent="-228600" algn="l" rtl="0" fontAlgn="base">
        <a:lnSpc>
          <a:spcPct val="95000"/>
        </a:lnSpc>
        <a:spcBef>
          <a:spcPct val="30000"/>
        </a:spcBef>
        <a:spcAft>
          <a:spcPct val="15000"/>
        </a:spcAft>
        <a:buClr>
          <a:schemeClr val="accent2"/>
        </a:buClr>
        <a:buChar char="–"/>
        <a:defRPr sz="2100">
          <a:solidFill>
            <a:schemeClr val="bg2"/>
          </a:solidFill>
          <a:latin typeface="+mn-lt"/>
        </a:defRPr>
      </a:lvl8pPr>
      <a:lvl9pPr marL="3886200" indent="-228600" algn="l" rtl="0" fontAlgn="base">
        <a:lnSpc>
          <a:spcPct val="95000"/>
        </a:lnSpc>
        <a:spcBef>
          <a:spcPct val="30000"/>
        </a:spcBef>
        <a:spcAft>
          <a:spcPct val="15000"/>
        </a:spcAft>
        <a:buClr>
          <a:schemeClr val="accent2"/>
        </a:buClr>
        <a:buChar char="–"/>
        <a:defRPr sz="2100">
          <a:solidFill>
            <a:schemeClr val="bg2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25463" y="5091113"/>
            <a:ext cx="1184275" cy="112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0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507" y="251918"/>
            <a:ext cx="4861930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8" r:id="rId1"/>
    <p:sldLayoutId id="2147484149" r:id="rId2"/>
    <p:sldLayoutId id="2147484150" r:id="rId3"/>
    <p:sldLayoutId id="2147484151" r:id="rId4"/>
    <p:sldLayoutId id="2147484152" r:id="rId5"/>
    <p:sldLayoutId id="2147484153" r:id="rId6"/>
    <p:sldLayoutId id="2147484154" r:id="rId7"/>
    <p:sldLayoutId id="2147484155" r:id="rId8"/>
    <p:sldLayoutId id="2147484156" r:id="rId9"/>
    <p:sldLayoutId id="2147484157" r:id="rId10"/>
    <p:sldLayoutId id="21474841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18250" y="4291013"/>
            <a:ext cx="3581400" cy="254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0" y="4267200"/>
            <a:ext cx="6324600" cy="2573338"/>
          </a:xfrm>
          <a:prstGeom prst="rect">
            <a:avLst/>
          </a:prstGeom>
          <a:solidFill>
            <a:srgbClr val="9AAE0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endParaRPr lang="es-ES_tradnl" sz="2500" b="0" baseline="0">
              <a:solidFill>
                <a:srgbClr val="9AAE04"/>
              </a:solidFill>
              <a:latin typeface="Arial" pitchFamily="34" charset="0"/>
            </a:endParaRPr>
          </a:p>
        </p:txBody>
      </p:sp>
      <p:sp>
        <p:nvSpPr>
          <p:cNvPr id="8196" name="Rectangle 11"/>
          <p:cNvSpPr>
            <a:spLocks noChangeArrowheads="1"/>
          </p:cNvSpPr>
          <p:nvPr/>
        </p:nvSpPr>
        <p:spPr bwMode="auto">
          <a:xfrm>
            <a:off x="6318250" y="4271963"/>
            <a:ext cx="3581400" cy="2568575"/>
          </a:xfrm>
          <a:prstGeom prst="rect">
            <a:avLst/>
          </a:prstGeom>
          <a:noFill/>
          <a:ln w="9525">
            <a:solidFill>
              <a:srgbClr val="80808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197" name="Rectangle 17"/>
          <p:cNvSpPr>
            <a:spLocks noChangeArrowheads="1"/>
          </p:cNvSpPr>
          <p:nvPr/>
        </p:nvSpPr>
        <p:spPr bwMode="auto">
          <a:xfrm>
            <a:off x="6324600" y="4254500"/>
            <a:ext cx="3575050" cy="2573338"/>
          </a:xfrm>
          <a:prstGeom prst="rect">
            <a:avLst/>
          </a:prstGeom>
          <a:solidFill>
            <a:schemeClr val="bg1">
              <a:alpha val="22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8198" name="Text Box 20"/>
          <p:cNvSpPr txBox="1">
            <a:spLocks noChangeArrowheads="1"/>
          </p:cNvSpPr>
          <p:nvPr/>
        </p:nvSpPr>
        <p:spPr bwMode="auto">
          <a:xfrm>
            <a:off x="557213" y="5942013"/>
            <a:ext cx="5216525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>
              <a:lnSpc>
                <a:spcPts val="2000"/>
              </a:lnSpc>
              <a:spcBef>
                <a:spcPct val="50000"/>
              </a:spcBef>
            </a:pPr>
            <a:r>
              <a:rPr lang="es-ES_tradnl" sz="1400" b="0" baseline="0" dirty="0">
                <a:solidFill>
                  <a:schemeClr val="bg1"/>
                </a:solidFill>
                <a:latin typeface="Arial" pitchFamily="34" charset="0"/>
              </a:rPr>
              <a:t>Septiembre 2014</a:t>
            </a:r>
          </a:p>
          <a:p>
            <a:pPr algn="ctr" eaLnBrk="0" hangingPunct="0">
              <a:lnSpc>
                <a:spcPts val="2000"/>
              </a:lnSpc>
              <a:spcBef>
                <a:spcPct val="50000"/>
              </a:spcBef>
            </a:pPr>
            <a:endParaRPr lang="es-ES_tradnl" sz="1400" b="0" baseline="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8199" name="Text Box 3"/>
          <p:cNvSpPr txBox="1">
            <a:spLocks noChangeArrowheads="1"/>
          </p:cNvSpPr>
          <p:nvPr/>
        </p:nvSpPr>
        <p:spPr bwMode="auto">
          <a:xfrm>
            <a:off x="269305" y="2700189"/>
            <a:ext cx="9358345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eaLnBrk="0" hangingPunct="0">
              <a:spcBef>
                <a:spcPts val="0"/>
              </a:spcBef>
              <a:defRPr/>
            </a:pPr>
            <a:r>
              <a:rPr lang="es-ES_tradnl" sz="4800" baseline="0" dirty="0">
                <a:solidFill>
                  <a:srgbClr val="9AAE04"/>
                </a:solidFill>
                <a:latin typeface="+mj-lt"/>
              </a:rPr>
              <a:t>Introducción COBOL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Introducción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 bwMode="auto">
          <a:xfrm>
            <a:off x="691470" y="1518830"/>
            <a:ext cx="8650843" cy="4781759"/>
          </a:xfrm>
          <a:prstGeom prst="roundRect">
            <a:avLst>
              <a:gd name="adj" fmla="val 5331"/>
            </a:avLst>
          </a:prstGeom>
          <a:solidFill>
            <a:schemeClr val="bg1"/>
          </a:solidFill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1. Introducción al lenguaje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2. Estructura de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3. Sentencias 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4. Acceso a Ficheros de Datos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5. Compilando y Ejecutando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6. Definición y tratamiento de Tablas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7.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Matching</a:t>
            </a: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 de Ficheros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8. Programación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multimodular</a:t>
            </a: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227548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Introducción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 bwMode="auto">
          <a:xfrm>
            <a:off x="691470" y="1518830"/>
            <a:ext cx="8578835" cy="4781759"/>
          </a:xfrm>
          <a:prstGeom prst="roundRect">
            <a:avLst>
              <a:gd name="adj" fmla="val 5331"/>
            </a:avLst>
          </a:prstGeom>
          <a:solidFill>
            <a:schemeClr val="bg1"/>
          </a:solidFill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aseline="0" dirty="0">
                <a:solidFill>
                  <a:srgbClr val="9AAE04"/>
                </a:solidFill>
                <a:latin typeface="Calibri"/>
              </a:rPr>
              <a:t>1. Introducción al lenguaje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2. Estructura de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3. Sentencias 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4. Acceso a Ficheros de Datos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5. Compilando y Ejecutando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6. Definición y tratamiento de Tablas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7.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Matching</a:t>
            </a: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 de Ficheros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8. Programación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multimodular</a:t>
            </a: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365149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Introducción al lenguaje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 bwMode="auto">
          <a:xfrm>
            <a:off x="485330" y="1332036"/>
            <a:ext cx="8856984" cy="2592289"/>
          </a:xfrm>
          <a:prstGeom prst="roundRect">
            <a:avLst>
              <a:gd name="adj" fmla="val 5331"/>
            </a:avLst>
          </a:prstGeom>
          <a:solidFill>
            <a:schemeClr val="bg1"/>
          </a:solidFill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r>
              <a:rPr lang="es-ES" sz="16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Definición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85329" y="1360056"/>
            <a:ext cx="9046407" cy="2420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190500">
              <a:lnSpc>
                <a:spcPts val="3600"/>
              </a:lnSpc>
              <a:spcBef>
                <a:spcPts val="800"/>
              </a:spcBef>
              <a:buClr>
                <a:srgbClr val="808080"/>
              </a:buClr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</a:rPr>
              <a:t>COBOL 	</a:t>
            </a:r>
            <a:r>
              <a:rPr lang="es-ES_tradnl" sz="3000" dirty="0" err="1">
                <a:latin typeface="Calibri" pitchFamily="34" charset="0"/>
              </a:rPr>
              <a:t>CO</a:t>
            </a:r>
            <a:r>
              <a:rPr lang="es-ES_tradnl" sz="3000" b="0" dirty="0" err="1">
                <a:latin typeface="Calibri" pitchFamily="34" charset="0"/>
              </a:rPr>
              <a:t>mmon</a:t>
            </a:r>
            <a:r>
              <a:rPr lang="es-ES_tradnl" sz="3000" b="0" dirty="0">
                <a:latin typeface="Calibri" pitchFamily="34" charset="0"/>
              </a:rPr>
              <a:t> </a:t>
            </a:r>
            <a:r>
              <a:rPr lang="es-ES_tradnl" sz="3000" dirty="0">
                <a:latin typeface="Calibri" pitchFamily="34" charset="0"/>
              </a:rPr>
              <a:t>B</a:t>
            </a:r>
            <a:r>
              <a:rPr lang="es-ES_tradnl" sz="3000" b="0" dirty="0">
                <a:latin typeface="Calibri" pitchFamily="34" charset="0"/>
              </a:rPr>
              <a:t>usiness </a:t>
            </a:r>
            <a:r>
              <a:rPr lang="es-ES_tradnl" sz="3000" dirty="0" err="1">
                <a:latin typeface="Calibri" pitchFamily="34" charset="0"/>
              </a:rPr>
              <a:t>O</a:t>
            </a:r>
            <a:r>
              <a:rPr lang="es-ES_tradnl" sz="3000" b="0" dirty="0" err="1">
                <a:latin typeface="Calibri" pitchFamily="34" charset="0"/>
              </a:rPr>
              <a:t>riented</a:t>
            </a:r>
            <a:r>
              <a:rPr lang="es-ES_tradnl" sz="3000" b="0" dirty="0">
                <a:latin typeface="Calibri" pitchFamily="34" charset="0"/>
              </a:rPr>
              <a:t> </a:t>
            </a:r>
            <a:r>
              <a:rPr lang="es-ES_tradnl" sz="3000" dirty="0" err="1">
                <a:latin typeface="Calibri" pitchFamily="34" charset="0"/>
              </a:rPr>
              <a:t>L</a:t>
            </a:r>
            <a:r>
              <a:rPr lang="es-ES_tradnl" sz="3000" b="0" dirty="0" err="1">
                <a:latin typeface="Calibri" pitchFamily="34" charset="0"/>
              </a:rPr>
              <a:t>anguage</a:t>
            </a:r>
            <a:r>
              <a:rPr lang="es-ES_tradnl" sz="3000" b="0" dirty="0">
                <a:latin typeface="Calibri" pitchFamily="34" charset="0"/>
              </a:rPr>
              <a:t>.</a:t>
            </a:r>
          </a:p>
          <a:p>
            <a:pPr defTabSz="762000"/>
            <a:endParaRPr lang="es-ES_tradnl" sz="1600" dirty="0"/>
          </a:p>
          <a:p>
            <a:pPr defTabSz="762000"/>
            <a:r>
              <a:rPr lang="es-ES_tradnl" sz="2200" b="0" dirty="0">
                <a:latin typeface="Calibri" pitchFamily="34" charset="0"/>
                <a:cs typeface="Calibri" pitchFamily="34" charset="0"/>
              </a:rPr>
              <a:t>  Lenguaje de ALTO NIVEL dedicado a gestión de datos con una fácil portabilidad entre distintos sistemas.</a:t>
            </a:r>
          </a:p>
          <a:p>
            <a:pPr defTabSz="762000"/>
            <a:endParaRPr lang="es-ES_tradnl" sz="2200" b="0" dirty="0">
              <a:latin typeface="Calibri" pitchFamily="34" charset="0"/>
              <a:cs typeface="Calibri" pitchFamily="34" charset="0"/>
            </a:endParaRPr>
          </a:p>
          <a:p>
            <a:pPr defTabSz="762000"/>
            <a:r>
              <a:rPr lang="es-ES_tradnl" sz="2200" b="0" dirty="0">
                <a:latin typeface="Calibri" pitchFamily="34" charset="0"/>
                <a:cs typeface="Calibri" pitchFamily="34" charset="0"/>
              </a:rPr>
              <a:t>  Lenguaje ESTRUCTURADO.</a:t>
            </a:r>
          </a:p>
          <a:p>
            <a:pPr defTabSz="762000"/>
            <a:endParaRPr lang="es-ES_tradnl" sz="2200" b="0" dirty="0">
              <a:latin typeface="Calibri" pitchFamily="34" charset="0"/>
              <a:cs typeface="Calibri" pitchFamily="34" charset="0"/>
            </a:endParaRPr>
          </a:p>
          <a:p>
            <a:pPr defTabSz="762000"/>
            <a:r>
              <a:rPr lang="es-ES_tradnl" sz="2200" b="0" dirty="0">
                <a:latin typeface="Calibri" pitchFamily="34" charset="0"/>
                <a:cs typeface="Calibri" pitchFamily="34" charset="0"/>
              </a:rPr>
              <a:t>  La sintaxis de sus instrucciones es similar al lenguaje normal: verbos, párrafos, y frases en ingles.</a:t>
            </a:r>
          </a:p>
          <a:p>
            <a:pPr defTabSz="762000"/>
            <a:endParaRPr lang="es-ES_tradnl" sz="2200" b="0" dirty="0">
              <a:latin typeface="Calibri" pitchFamily="34" charset="0"/>
              <a:cs typeface="Calibri" pitchFamily="34" charset="0"/>
            </a:endParaRPr>
          </a:p>
          <a:p>
            <a:pPr defTabSz="762000"/>
            <a:r>
              <a:rPr lang="es-ES_tradnl" sz="2200" b="0" dirty="0">
                <a:latin typeface="Calibri" pitchFamily="34" charset="0"/>
                <a:cs typeface="Calibri" pitchFamily="34" charset="0"/>
              </a:rPr>
              <a:t>  No soporta cálculos científicos o trigonométricos, pero sí las funciones de cálculo decimal que se utilizan    normalmente en procesos de negocio.</a:t>
            </a:r>
          </a:p>
          <a:p>
            <a:pPr defTabSz="762000"/>
            <a:endParaRPr lang="es-ES_tradnl" sz="2500" b="0" dirty="0">
              <a:latin typeface="Calibri" pitchFamily="34" charset="0"/>
              <a:cs typeface="Calibri" pitchFamily="34" charset="0"/>
            </a:endParaRPr>
          </a:p>
          <a:p>
            <a:pPr defTabSz="762000"/>
            <a:endParaRPr lang="es-ES_tradnl" sz="25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57337" y="3995577"/>
            <a:ext cx="8784976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200" dirty="0">
                <a:latin typeface="Calibri" pitchFamily="34" charset="0"/>
                <a:cs typeface="Calibri" pitchFamily="34" charset="0"/>
              </a:rPr>
              <a:t>VENTAJAS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200" b="0" dirty="0">
                <a:latin typeface="Calibri" pitchFamily="34" charset="0"/>
                <a:cs typeface="Calibri" pitchFamily="34" charset="0"/>
              </a:rPr>
              <a:t>	1. Facilidad de entender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200" b="0" dirty="0">
                <a:latin typeface="Calibri" pitchFamily="34" charset="0"/>
                <a:cs typeface="Calibri" pitchFamily="34" charset="0"/>
              </a:rPr>
              <a:t>	2. Estructura clara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200" b="0" dirty="0">
                <a:latin typeface="Calibri" pitchFamily="34" charset="0"/>
                <a:cs typeface="Calibri" pitchFamily="34" charset="0"/>
              </a:rPr>
              <a:t>	3. Reducción de esfuerzo en las pruebas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200" b="0" dirty="0">
                <a:latin typeface="Calibri" pitchFamily="34" charset="0"/>
                <a:cs typeface="Calibri" pitchFamily="34" charset="0"/>
              </a:rPr>
              <a:t>	4. Reducción de coste en el mantenimiento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200" b="0" dirty="0">
                <a:latin typeface="Calibri" pitchFamily="34" charset="0"/>
                <a:cs typeface="Calibri" pitchFamily="34" charset="0"/>
              </a:rPr>
              <a:t>	5. Programas sencillos y rápidos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200" b="0" dirty="0">
                <a:latin typeface="Calibri" pitchFamily="34" charset="0"/>
                <a:cs typeface="Calibri" pitchFamily="34" charset="0"/>
              </a:rPr>
              <a:t>	6. Los bloques de código son auto explicativos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endParaRPr lang="es-ES" sz="2200" b="0" dirty="0">
              <a:latin typeface="Calibri" pitchFamily="34" charset="0"/>
              <a:cs typeface="Calibri" pitchFamily="34" charset="0"/>
            </a:endParaRPr>
          </a:p>
          <a:p>
            <a:pPr>
              <a:buClr>
                <a:schemeClr val="accent2"/>
              </a:buClr>
              <a:defRPr/>
            </a:pPr>
            <a:r>
              <a:rPr lang="es-ES" sz="2200" dirty="0">
                <a:latin typeface="Calibri" pitchFamily="34" charset="0"/>
                <a:cs typeface="Calibri" pitchFamily="34" charset="0"/>
              </a:rPr>
              <a:t>INCONVENIENTES</a:t>
            </a:r>
          </a:p>
          <a:p>
            <a:pPr>
              <a:buClr>
                <a:schemeClr val="accent2"/>
              </a:buClr>
              <a:defRPr/>
            </a:pPr>
            <a:r>
              <a:rPr lang="es-ES" sz="2200" b="0" dirty="0">
                <a:latin typeface="Calibri" pitchFamily="34" charset="0"/>
                <a:cs typeface="Calibri" pitchFamily="34" charset="0"/>
              </a:rPr>
              <a:t>	Si el programa se hace excesivamente largo es difícil de manejar</a:t>
            </a:r>
          </a:p>
          <a:p>
            <a:pPr>
              <a:buClr>
                <a:schemeClr val="accent2"/>
              </a:buClr>
              <a:defRPr/>
            </a:pPr>
            <a:r>
              <a:rPr lang="es-ES" sz="2200" b="0" dirty="0">
                <a:latin typeface="Calibri" pitchFamily="34" charset="0"/>
                <a:cs typeface="Calibri" pitchFamily="34" charset="0"/>
              </a:rPr>
              <a:t>	Solución -&gt; </a:t>
            </a:r>
            <a:r>
              <a:rPr lang="es-ES" sz="22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PROGRAMACIÓN MODULAR</a:t>
            </a:r>
          </a:p>
        </p:txBody>
      </p:sp>
      <p:sp>
        <p:nvSpPr>
          <p:cNvPr id="9" name="8 Rectángulo redondeado"/>
          <p:cNvSpPr/>
          <p:nvPr/>
        </p:nvSpPr>
        <p:spPr bwMode="auto">
          <a:xfrm>
            <a:off x="449704" y="3995577"/>
            <a:ext cx="8892610" cy="2664295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  <a:p>
            <a:pPr marL="0" lvl="1" indent="0" defTabSz="914400" eaLnBrk="1" hangingPunct="1"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  <a:defRPr/>
            </a:pPr>
            <a:endParaRPr lang="es-E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480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Introducción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 bwMode="auto">
          <a:xfrm>
            <a:off x="691470" y="1518830"/>
            <a:ext cx="8578835" cy="4781759"/>
          </a:xfrm>
          <a:prstGeom prst="roundRect">
            <a:avLst>
              <a:gd name="adj" fmla="val 5331"/>
            </a:avLst>
          </a:prstGeom>
          <a:solidFill>
            <a:schemeClr val="bg1"/>
          </a:solidFill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1. Introducción al lenguaje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aseline="0" dirty="0">
                <a:solidFill>
                  <a:srgbClr val="9AAE04"/>
                </a:solidFill>
                <a:latin typeface="Calibri"/>
              </a:rPr>
              <a:t>2. Estructura de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3. Sentencias 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4. Acceso a Ficheros de Datos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5. Compilando y Ejecutando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6. Definición y tratamiento de Tablas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7.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Matching</a:t>
            </a: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 de Ficheros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8. Programación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multimodular</a:t>
            </a: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255074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Reglas de escritura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98043" y="1260029"/>
            <a:ext cx="8772518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pic>
        <p:nvPicPr>
          <p:cNvPr id="8" name="Picture 7" descr="G:\MF Learning Project Nuevo\MF Learning Project Nuevo\Documentacion\Basica\Documentacion\300\310\section1_files\image001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45" y="5580509"/>
            <a:ext cx="8189632" cy="846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604155"/>
              </p:ext>
            </p:extLst>
          </p:nvPr>
        </p:nvGraphicFramePr>
        <p:xfrm>
          <a:off x="913636" y="1490711"/>
          <a:ext cx="7941332" cy="392200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94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9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5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latin typeface="Calibri" pitchFamily="34" charset="0"/>
                          <a:cs typeface="Calibri" pitchFamily="34" charset="0"/>
                        </a:rPr>
                        <a:t>PARTE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latin typeface="Calibri" pitchFamily="34" charset="0"/>
                          <a:cs typeface="Calibri" pitchFamily="34" charset="0"/>
                        </a:rPr>
                        <a:t>COLUMNA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latin typeface="Calibri" pitchFamily="34" charset="0"/>
                          <a:cs typeface="Calibri" pitchFamily="34" charset="0"/>
                        </a:rPr>
                        <a:t>ÁREA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latin typeface="Calibri" pitchFamily="34" charset="0"/>
                          <a:cs typeface="Calibri" pitchFamily="34" charset="0"/>
                        </a:rPr>
                        <a:t>UTILIDAD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Secuencia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Identificar líneas de código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Comentarios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Comentarios (*) o continuación de línea (-)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8-11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Margen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Cabeceras de divisiones</a:t>
                      </a:r>
                      <a:endParaRPr lang="es-ES" baseline="0" dirty="0"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Cabeceras de </a:t>
                      </a:r>
                      <a:r>
                        <a:rPr lang="es-ES" baseline="0" dirty="0">
                          <a:latin typeface="Calibri" pitchFamily="34" charset="0"/>
                          <a:cs typeface="Calibri" pitchFamily="34" charset="0"/>
                        </a:rPr>
                        <a:t>secciones </a:t>
                      </a:r>
                    </a:p>
                    <a:p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Cabeceras de </a:t>
                      </a:r>
                      <a:r>
                        <a:rPr lang="es-ES" baseline="0" dirty="0">
                          <a:latin typeface="Calibri" pitchFamily="34" charset="0"/>
                          <a:cs typeface="Calibri" pitchFamily="34" charset="0"/>
                        </a:rPr>
                        <a:t>párrafos</a:t>
                      </a:r>
                    </a:p>
                    <a:p>
                      <a:r>
                        <a:rPr lang="es-ES" baseline="0" dirty="0">
                          <a:latin typeface="Calibri" pitchFamily="34" charset="0"/>
                          <a:cs typeface="Calibri" pitchFamily="34" charset="0"/>
                        </a:rPr>
                        <a:t>Sentencias FD</a:t>
                      </a:r>
                    </a:p>
                    <a:p>
                      <a:r>
                        <a:rPr lang="es-ES" baseline="0" dirty="0">
                          <a:latin typeface="Calibri" pitchFamily="34" charset="0"/>
                          <a:cs typeface="Calibri" pitchFamily="34" charset="0"/>
                        </a:rPr>
                        <a:t>Nivel 01</a:t>
                      </a:r>
                    </a:p>
                    <a:p>
                      <a:r>
                        <a:rPr lang="es-ES" baseline="0" dirty="0">
                          <a:latin typeface="Calibri" pitchFamily="34" charset="0"/>
                          <a:cs typeface="Calibri" pitchFamily="34" charset="0"/>
                        </a:rPr>
                        <a:t>Sentencia COPY</a:t>
                      </a:r>
                      <a:endParaRPr lang="es-ES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12-72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Margen</a:t>
                      </a:r>
                      <a:r>
                        <a:rPr lang="es-ES" baseline="0" dirty="0">
                          <a:latin typeface="Calibri" pitchFamily="34" charset="0"/>
                          <a:cs typeface="Calibri" pitchFamily="34" charset="0"/>
                        </a:rPr>
                        <a:t> B</a:t>
                      </a:r>
                      <a:endParaRPr lang="es-ES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Sentencias e instrucciones</a:t>
                      </a:r>
                      <a:r>
                        <a:rPr lang="es-ES" baseline="0" dirty="0">
                          <a:latin typeface="Calibri" pitchFamily="34" charset="0"/>
                          <a:cs typeface="Calibri" pitchFamily="34" charset="0"/>
                        </a:rPr>
                        <a:t> cobol</a:t>
                      </a:r>
                      <a:endParaRPr lang="es-ES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73-80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Identificación</a:t>
                      </a:r>
                    </a:p>
                    <a:p>
                      <a:endParaRPr lang="es-ES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latin typeface="Calibri" pitchFamily="34" charset="0"/>
                          <a:cs typeface="Calibri" pitchFamily="34" charset="0"/>
                        </a:rPr>
                        <a:t>Apenas</a:t>
                      </a:r>
                      <a:r>
                        <a:rPr lang="es-ES" baseline="0" dirty="0">
                          <a:latin typeface="Calibri" pitchFamily="34" charset="0"/>
                          <a:cs typeface="Calibri" pitchFamily="34" charset="0"/>
                        </a:rPr>
                        <a:t> se utiliza</a:t>
                      </a:r>
                      <a:endParaRPr lang="es-ES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987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Estructura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98043" y="1260029"/>
            <a:ext cx="8772518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grpSp>
        <p:nvGrpSpPr>
          <p:cNvPr id="14" name="Group 2"/>
          <p:cNvGrpSpPr>
            <a:grpSpLocks/>
          </p:cNvGrpSpPr>
          <p:nvPr/>
        </p:nvGrpSpPr>
        <p:grpSpPr bwMode="auto">
          <a:xfrm>
            <a:off x="1421142" y="1476053"/>
            <a:ext cx="6845539" cy="4417690"/>
            <a:chOff x="1604" y="958"/>
            <a:chExt cx="3983" cy="2608"/>
          </a:xfrm>
        </p:grpSpPr>
        <p:sp>
          <p:nvSpPr>
            <p:cNvPr id="15" name="AutoShape 3"/>
            <p:cNvSpPr>
              <a:spLocks noChangeArrowheads="1"/>
            </p:cNvSpPr>
            <p:nvPr/>
          </p:nvSpPr>
          <p:spPr bwMode="auto">
            <a:xfrm>
              <a:off x="1604" y="958"/>
              <a:ext cx="3983" cy="2608"/>
            </a:xfrm>
            <a:prstGeom prst="triangle">
              <a:avLst>
                <a:gd name="adj" fmla="val 49921"/>
              </a:avLst>
            </a:prstGeom>
            <a:solidFill>
              <a:srgbClr val="FF993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PROCEDURE DIVISION</a:t>
              </a:r>
            </a:p>
          </p:txBody>
        </p:sp>
        <p:sp>
          <p:nvSpPr>
            <p:cNvPr id="16" name="AutoShape 4"/>
            <p:cNvSpPr>
              <a:spLocks noChangeArrowheads="1"/>
            </p:cNvSpPr>
            <p:nvPr/>
          </p:nvSpPr>
          <p:spPr bwMode="auto">
            <a:xfrm>
              <a:off x="2064" y="960"/>
              <a:ext cx="3072" cy="2016"/>
            </a:xfrm>
            <a:prstGeom prst="triangle">
              <a:avLst>
                <a:gd name="adj" fmla="val 49921"/>
              </a:avLst>
            </a:prstGeom>
            <a:solidFill>
              <a:srgbClr val="BEBA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DATA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DIVISION</a:t>
              </a:r>
            </a:p>
          </p:txBody>
        </p:sp>
        <p:sp>
          <p:nvSpPr>
            <p:cNvPr id="17" name="AutoShape 5"/>
            <p:cNvSpPr>
              <a:spLocks noChangeArrowheads="1"/>
            </p:cNvSpPr>
            <p:nvPr/>
          </p:nvSpPr>
          <p:spPr bwMode="auto">
            <a:xfrm>
              <a:off x="2544" y="960"/>
              <a:ext cx="2112" cy="1392"/>
            </a:xfrm>
            <a:prstGeom prst="triangle">
              <a:avLst>
                <a:gd name="adj" fmla="val 49921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ENVIRONMENT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DIVISION</a:t>
              </a:r>
            </a:p>
          </p:txBody>
        </p:sp>
        <p:sp>
          <p:nvSpPr>
            <p:cNvPr id="18" name="AutoShape 6"/>
            <p:cNvSpPr>
              <a:spLocks noChangeArrowheads="1"/>
            </p:cNvSpPr>
            <p:nvPr/>
          </p:nvSpPr>
          <p:spPr bwMode="auto">
            <a:xfrm>
              <a:off x="2976" y="960"/>
              <a:ext cx="1248" cy="816"/>
            </a:xfrm>
            <a:prstGeom prst="triangle">
              <a:avLst>
                <a:gd name="adj" fmla="val 49921"/>
              </a:avLst>
            </a:prstGeom>
            <a:solidFill>
              <a:srgbClr val="33993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IDENTIFICATION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 DIVISION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3192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49878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IDENTIFICATION</a:t>
            </a:r>
            <a:r>
              <a:rPr lang="es-ES" sz="3600" baseline="0" dirty="0"/>
              <a:t> </a:t>
            </a:r>
            <a:r>
              <a:rPr lang="es-ES" sz="3600" dirty="0"/>
              <a:t>DIVISION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98043" y="1260029"/>
            <a:ext cx="8772518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grpSp>
        <p:nvGrpSpPr>
          <p:cNvPr id="14" name="Group 2"/>
          <p:cNvGrpSpPr>
            <a:grpSpLocks/>
          </p:cNvGrpSpPr>
          <p:nvPr/>
        </p:nvGrpSpPr>
        <p:grpSpPr bwMode="auto">
          <a:xfrm>
            <a:off x="1421142" y="1476053"/>
            <a:ext cx="6845539" cy="4417690"/>
            <a:chOff x="1604" y="958"/>
            <a:chExt cx="3983" cy="2608"/>
          </a:xfrm>
        </p:grpSpPr>
        <p:sp>
          <p:nvSpPr>
            <p:cNvPr id="15" name="AutoShape 3"/>
            <p:cNvSpPr>
              <a:spLocks noChangeArrowheads="1"/>
            </p:cNvSpPr>
            <p:nvPr/>
          </p:nvSpPr>
          <p:spPr bwMode="auto">
            <a:xfrm>
              <a:off x="1604" y="958"/>
              <a:ext cx="3983" cy="2608"/>
            </a:xfrm>
            <a:prstGeom prst="triangle">
              <a:avLst>
                <a:gd name="adj" fmla="val 49921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PROCEDURE DIVISION</a:t>
              </a:r>
            </a:p>
          </p:txBody>
        </p:sp>
        <p:sp>
          <p:nvSpPr>
            <p:cNvPr id="16" name="AutoShape 4"/>
            <p:cNvSpPr>
              <a:spLocks noChangeArrowheads="1"/>
            </p:cNvSpPr>
            <p:nvPr/>
          </p:nvSpPr>
          <p:spPr bwMode="auto">
            <a:xfrm>
              <a:off x="2064" y="960"/>
              <a:ext cx="3072" cy="2016"/>
            </a:xfrm>
            <a:prstGeom prst="triangle">
              <a:avLst>
                <a:gd name="adj" fmla="val 49921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DATA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DIVISION</a:t>
              </a:r>
            </a:p>
          </p:txBody>
        </p:sp>
        <p:sp>
          <p:nvSpPr>
            <p:cNvPr id="17" name="AutoShape 5"/>
            <p:cNvSpPr>
              <a:spLocks noChangeArrowheads="1"/>
            </p:cNvSpPr>
            <p:nvPr/>
          </p:nvSpPr>
          <p:spPr bwMode="auto">
            <a:xfrm>
              <a:off x="2544" y="960"/>
              <a:ext cx="2112" cy="1392"/>
            </a:xfrm>
            <a:prstGeom prst="triangle">
              <a:avLst>
                <a:gd name="adj" fmla="val 49921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ENVIRONMENT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DIVISION</a:t>
              </a:r>
            </a:p>
          </p:txBody>
        </p:sp>
        <p:sp>
          <p:nvSpPr>
            <p:cNvPr id="18" name="AutoShape 6"/>
            <p:cNvSpPr>
              <a:spLocks noChangeArrowheads="1"/>
            </p:cNvSpPr>
            <p:nvPr/>
          </p:nvSpPr>
          <p:spPr bwMode="auto">
            <a:xfrm>
              <a:off x="2976" y="960"/>
              <a:ext cx="1248" cy="816"/>
            </a:xfrm>
            <a:prstGeom prst="triangle">
              <a:avLst>
                <a:gd name="adj" fmla="val 49921"/>
              </a:avLst>
            </a:prstGeom>
            <a:solidFill>
              <a:srgbClr val="33993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IDENTIFICATION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 DIVISION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7720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539949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IDENTIFICATION</a:t>
            </a:r>
            <a:r>
              <a:rPr lang="es-ES" sz="3600" baseline="0" dirty="0"/>
              <a:t> </a:t>
            </a:r>
            <a:r>
              <a:rPr lang="es-ES" sz="3600" dirty="0"/>
              <a:t>DIVISION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98043" y="2700189"/>
            <a:ext cx="8844270" cy="396044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845369" y="2916213"/>
            <a:ext cx="8136904" cy="3498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endParaRPr lang="en-GB" dirty="0">
              <a:solidFill>
                <a:srgbClr val="FF0000"/>
              </a:solidFill>
            </a:endParaRPr>
          </a:p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r>
              <a:rPr lang="en-GB" sz="25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IDENTIFICATION DIVISION.</a:t>
            </a:r>
            <a:endParaRPr lang="es-ES" sz="250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PROGRAM-ID.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Nombre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programa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.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AUTHOR.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			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Nombre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autor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.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INSTALLATION.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		Lugar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donde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está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instalado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.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DATE-WRITTEN.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Fecha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de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creación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.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DATE-COMPILED.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Fecha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de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compilación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.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SECURITY.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</a:t>
            </a:r>
          </a:p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REMARKS.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Comentarios.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894041" y="3636293"/>
            <a:ext cx="1728192" cy="574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" sz="2800" dirty="0">
                <a:solidFill>
                  <a:srgbClr val="9AAE0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Sentencias obligatorias</a:t>
            </a:r>
          </a:p>
        </p:txBody>
      </p:sp>
      <p:sp>
        <p:nvSpPr>
          <p:cNvPr id="10" name="AutoShape 6"/>
          <p:cNvSpPr>
            <a:spLocks/>
          </p:cNvSpPr>
          <p:nvPr/>
        </p:nvSpPr>
        <p:spPr bwMode="auto">
          <a:xfrm>
            <a:off x="6534001" y="3636293"/>
            <a:ext cx="228600" cy="68580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rgbClr val="5F5F5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es-ES"/>
          </a:p>
        </p:txBody>
      </p:sp>
      <p:sp>
        <p:nvSpPr>
          <p:cNvPr id="11" name="10 Rectángulo redondeado"/>
          <p:cNvSpPr/>
          <p:nvPr/>
        </p:nvSpPr>
        <p:spPr bwMode="auto">
          <a:xfrm>
            <a:off x="485329" y="1260029"/>
            <a:ext cx="8856984" cy="1296144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2" name="Rectangle 2051"/>
          <p:cNvSpPr>
            <a:spLocks noChangeArrowheads="1"/>
          </p:cNvSpPr>
          <p:nvPr/>
        </p:nvSpPr>
        <p:spPr bwMode="auto">
          <a:xfrm>
            <a:off x="773361" y="1260029"/>
            <a:ext cx="8497200" cy="33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90500">
              <a:lnSpc>
                <a:spcPts val="3600"/>
              </a:lnSpc>
              <a:spcBef>
                <a:spcPts val="800"/>
              </a:spcBef>
              <a:buClr>
                <a:srgbClr val="808080"/>
              </a:buClr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FUNCIONES	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Definir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nombre programa fuente y objeto</a:t>
            </a:r>
          </a:p>
          <a:p>
            <a:pPr defTabSz="190500">
              <a:lnSpc>
                <a:spcPts val="3600"/>
              </a:lnSpc>
              <a:spcBef>
                <a:spcPts val="800"/>
              </a:spcBef>
              <a:buClr>
                <a:srgbClr val="808080"/>
              </a:buClr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				Informar autor, fecha creación, fecha compilación…</a:t>
            </a:r>
          </a:p>
          <a:p>
            <a:pPr defTabSz="190500">
              <a:lnSpc>
                <a:spcPts val="3600"/>
              </a:lnSpc>
              <a:spcBef>
                <a:spcPts val="800"/>
              </a:spcBef>
              <a:buClr>
                <a:srgbClr val="808080"/>
              </a:buClr>
            </a:pPr>
            <a:endParaRPr lang="es-ES" sz="2500" dirty="0">
              <a:latin typeface="Calibri" pitchFamily="34" charset="0"/>
              <a:cs typeface="Calibri" pitchFamily="34" charset="0"/>
            </a:endParaRPr>
          </a:p>
          <a:p>
            <a:pPr defTabSz="190500">
              <a:lnSpc>
                <a:spcPts val="3600"/>
              </a:lnSpc>
              <a:spcBef>
                <a:spcPts val="800"/>
              </a:spcBef>
              <a:buClr>
                <a:srgbClr val="808080"/>
              </a:buClr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SINTAXIS</a:t>
            </a:r>
          </a:p>
        </p:txBody>
      </p:sp>
    </p:spTree>
    <p:extLst>
      <p:ext uri="{BB962C8B-B14F-4D97-AF65-F5344CB8AC3E}">
        <p14:creationId xmlns:p14="http://schemas.microsoft.com/office/powerpoint/2010/main" val="162159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539949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IDENTIFICATION</a:t>
            </a:r>
            <a:r>
              <a:rPr lang="es-ES" sz="3600" baseline="0" dirty="0"/>
              <a:t> </a:t>
            </a:r>
            <a:r>
              <a:rPr lang="es-ES" sz="3600" dirty="0"/>
              <a:t>DIVISION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98043" y="1260029"/>
            <a:ext cx="8772518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lum bright="38000" contrast="36000"/>
          </a:blip>
          <a:srcRect t="12956"/>
          <a:stretch>
            <a:fillRect/>
          </a:stretch>
        </p:blipFill>
        <p:spPr bwMode="auto">
          <a:xfrm>
            <a:off x="629345" y="1476053"/>
            <a:ext cx="8474199" cy="501007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2159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Estructura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98043" y="1260029"/>
            <a:ext cx="8772518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421142" y="1476053"/>
            <a:ext cx="6845539" cy="4417690"/>
            <a:chOff x="1604" y="958"/>
            <a:chExt cx="3983" cy="2608"/>
          </a:xfrm>
        </p:grpSpPr>
        <p:sp>
          <p:nvSpPr>
            <p:cNvPr id="15" name="AutoShape 3"/>
            <p:cNvSpPr>
              <a:spLocks noChangeArrowheads="1"/>
            </p:cNvSpPr>
            <p:nvPr/>
          </p:nvSpPr>
          <p:spPr bwMode="auto">
            <a:xfrm>
              <a:off x="1604" y="958"/>
              <a:ext cx="3983" cy="2608"/>
            </a:xfrm>
            <a:prstGeom prst="triangle">
              <a:avLst>
                <a:gd name="adj" fmla="val 49921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PROCEDURE DIVISION</a:t>
              </a:r>
            </a:p>
          </p:txBody>
        </p:sp>
        <p:sp>
          <p:nvSpPr>
            <p:cNvPr id="16" name="AutoShape 4"/>
            <p:cNvSpPr>
              <a:spLocks noChangeArrowheads="1"/>
            </p:cNvSpPr>
            <p:nvPr/>
          </p:nvSpPr>
          <p:spPr bwMode="auto">
            <a:xfrm>
              <a:off x="2064" y="960"/>
              <a:ext cx="3072" cy="2016"/>
            </a:xfrm>
            <a:prstGeom prst="triangle">
              <a:avLst>
                <a:gd name="adj" fmla="val 49921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DATA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DIVISION</a:t>
              </a:r>
            </a:p>
          </p:txBody>
        </p:sp>
        <p:sp>
          <p:nvSpPr>
            <p:cNvPr id="17" name="AutoShape 5"/>
            <p:cNvSpPr>
              <a:spLocks noChangeArrowheads="1"/>
            </p:cNvSpPr>
            <p:nvPr/>
          </p:nvSpPr>
          <p:spPr bwMode="auto">
            <a:xfrm>
              <a:off x="2544" y="960"/>
              <a:ext cx="2112" cy="1392"/>
            </a:xfrm>
            <a:prstGeom prst="triangle">
              <a:avLst>
                <a:gd name="adj" fmla="val 49921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ENVIRONMENT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DIVISION</a:t>
              </a:r>
            </a:p>
          </p:txBody>
        </p:sp>
        <p:sp>
          <p:nvSpPr>
            <p:cNvPr id="18" name="AutoShape 6"/>
            <p:cNvSpPr>
              <a:spLocks noChangeArrowheads="1"/>
            </p:cNvSpPr>
            <p:nvPr/>
          </p:nvSpPr>
          <p:spPr bwMode="auto">
            <a:xfrm>
              <a:off x="2976" y="960"/>
              <a:ext cx="1248" cy="816"/>
            </a:xfrm>
            <a:prstGeom prst="triangle">
              <a:avLst>
                <a:gd name="adj" fmla="val 49921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IDENTIFICATION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 DIVISION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3192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1195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ENVIRONMENT DIVISION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98043" y="2700189"/>
            <a:ext cx="8844270" cy="396044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845369" y="2916213"/>
            <a:ext cx="8352928" cy="3672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buFontTx/>
              <a:buNone/>
            </a:pPr>
            <a:endParaRPr lang="es-ES_tradnl" dirty="0"/>
          </a:p>
          <a:p>
            <a:pPr lvl="1" algn="just">
              <a:buFontTx/>
              <a:buNone/>
            </a:pPr>
            <a:r>
              <a:rPr lang="es-ES_tradnl" dirty="0"/>
              <a:t>CONFIGURATION SECTION</a:t>
            </a:r>
          </a:p>
          <a:p>
            <a:pPr lvl="2" algn="just">
              <a:buFontTx/>
              <a:buNone/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Se declara el nombre de los procesadores donde se va a compilar y ejecutar              el programa</a:t>
            </a:r>
            <a:r>
              <a:rPr lang="es-ES_tradnl" dirty="0"/>
              <a:t>.</a:t>
            </a:r>
          </a:p>
          <a:p>
            <a:pPr lvl="2" algn="just">
              <a:buFontTx/>
              <a:buNone/>
            </a:pPr>
            <a:endParaRPr lang="es-ES_tradnl" dirty="0"/>
          </a:p>
          <a:p>
            <a:pPr lvl="1" algn="just">
              <a:buFontTx/>
              <a:buNone/>
            </a:pPr>
            <a:r>
              <a:rPr lang="es-ES_tradnl" dirty="0"/>
              <a:t>INPUT-OUPUT</a:t>
            </a:r>
            <a:r>
              <a:rPr lang="es-ES_tradnl" baseline="0" dirty="0"/>
              <a:t> </a:t>
            </a:r>
            <a:r>
              <a:rPr lang="es-ES_tradnl" dirty="0"/>
              <a:t>SECTION</a:t>
            </a:r>
          </a:p>
          <a:p>
            <a:pPr lvl="2" algn="just">
              <a:buFontTx/>
              <a:buNone/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Se declaran los dispositivos periféricos que se van a utilizar (discos, cintas, impresoras) y se asocian estos dispositivos con los ficheros. </a:t>
            </a:r>
          </a:p>
          <a:p>
            <a:pPr lvl="2" algn="just">
              <a:buFontTx/>
              <a:buNone/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A su vez tiene un párrafo </a:t>
            </a:r>
            <a:r>
              <a:rPr lang="es-ES_tradnl" sz="2500" dirty="0" err="1">
                <a:latin typeface="Calibri" pitchFamily="34" charset="0"/>
                <a:cs typeface="Calibri" pitchFamily="34" charset="0"/>
              </a:rPr>
              <a:t>File</a:t>
            </a:r>
            <a:r>
              <a:rPr lang="es-ES_tradnl" sz="2500" dirty="0">
                <a:latin typeface="Calibri" pitchFamily="34" charset="0"/>
                <a:cs typeface="Calibri" pitchFamily="34" charset="0"/>
              </a:rPr>
              <a:t>-Control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 que es obligatorio cuando se van a utilizar ficheros en el programa, ya que describe el nombre del fichero, su organización (secuencial, indexado, </a:t>
            </a:r>
            <a:r>
              <a:rPr lang="es-ES_tradnl" sz="2500" b="0" dirty="0" err="1">
                <a:latin typeface="Calibri" pitchFamily="34" charset="0"/>
                <a:cs typeface="Calibri" pitchFamily="34" charset="0"/>
              </a:rPr>
              <a:t>etc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) y modo de acceso.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endParaRPr lang="es-ES_tradnl" sz="25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 bwMode="auto">
          <a:xfrm>
            <a:off x="485329" y="1260029"/>
            <a:ext cx="8856984" cy="1296144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2" name="Rectangle 2051"/>
          <p:cNvSpPr>
            <a:spLocks noChangeArrowheads="1"/>
          </p:cNvSpPr>
          <p:nvPr/>
        </p:nvSpPr>
        <p:spPr bwMode="auto">
          <a:xfrm>
            <a:off x="773361" y="1260029"/>
            <a:ext cx="8712968" cy="33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90500">
              <a:lnSpc>
                <a:spcPts val="3600"/>
              </a:lnSpc>
              <a:spcBef>
                <a:spcPts val="800"/>
              </a:spcBef>
              <a:buClr>
                <a:srgbClr val="808080"/>
              </a:buClr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FUNCIONES	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Definir, asignar y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direccionar los ficheros que van a ser utilizados en el programa.</a:t>
            </a:r>
          </a:p>
          <a:p>
            <a:r>
              <a:rPr lang="es-ES" sz="2500" b="0" dirty="0">
                <a:latin typeface="Calibri" pitchFamily="34" charset="0"/>
                <a:cs typeface="Calibri" pitchFamily="34" charset="0"/>
              </a:rPr>
              <a:t>	         Relacionar los “nombres lógicos” de los archivos que van a ser utilizados por el 		         programa con los “nombres reales” de estos en el dispositivo de almacenamiento.</a:t>
            </a:r>
          </a:p>
          <a:p>
            <a:pPr defTabSz="190500">
              <a:lnSpc>
                <a:spcPts val="3600"/>
              </a:lnSpc>
              <a:spcBef>
                <a:spcPts val="800"/>
              </a:spcBef>
              <a:buClr>
                <a:srgbClr val="808080"/>
              </a:buClr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defTabSz="190500">
              <a:lnSpc>
                <a:spcPts val="3600"/>
              </a:lnSpc>
              <a:spcBef>
                <a:spcPts val="800"/>
              </a:spcBef>
              <a:buClr>
                <a:srgbClr val="808080"/>
              </a:buClr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DIVISIONES</a:t>
            </a:r>
          </a:p>
        </p:txBody>
      </p:sp>
    </p:spTree>
    <p:extLst>
      <p:ext uri="{BB962C8B-B14F-4D97-AF65-F5344CB8AC3E}">
        <p14:creationId xmlns:p14="http://schemas.microsoft.com/office/powerpoint/2010/main" val="162159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1195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ENVIRONMENT DIVISION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476053"/>
            <a:ext cx="8856984" cy="504056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8" name="Rectangle 2051"/>
          <p:cNvSpPr>
            <a:spLocks noChangeArrowheads="1"/>
          </p:cNvSpPr>
          <p:nvPr/>
        </p:nvSpPr>
        <p:spPr bwMode="auto">
          <a:xfrm>
            <a:off x="773361" y="1476053"/>
            <a:ext cx="8712968" cy="5580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90500">
              <a:lnSpc>
                <a:spcPts val="3600"/>
              </a:lnSpc>
              <a:spcBef>
                <a:spcPts val="800"/>
              </a:spcBef>
              <a:buClr>
                <a:srgbClr val="808080"/>
              </a:buClr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SINTAXIS	</a:t>
            </a:r>
          </a:p>
          <a:p>
            <a:pPr lvl="3" algn="just">
              <a:lnSpc>
                <a:spcPts val="2600"/>
              </a:lnSpc>
              <a:buFontTx/>
              <a:buNone/>
            </a:pPr>
            <a:r>
              <a:rPr lang="en-GB" sz="25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ENVIRONMENT DIVISION.</a:t>
            </a:r>
            <a:endParaRPr lang="es-ES" sz="250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lvl="3" algn="just">
              <a:lnSpc>
                <a:spcPts val="2600"/>
              </a:lnSpc>
              <a:buFontTx/>
              <a:buNone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CONFIGURATION SECTION.</a:t>
            </a:r>
            <a:endParaRPr lang="es-ES" sz="2500" dirty="0">
              <a:latin typeface="Calibri" pitchFamily="34" charset="0"/>
              <a:cs typeface="Calibri" pitchFamily="34" charset="0"/>
            </a:endParaRPr>
          </a:p>
          <a:p>
            <a:pPr lvl="3" algn="just">
              <a:lnSpc>
                <a:spcPts val="2600"/>
              </a:lnSpc>
              <a:buFontTx/>
              <a:buNone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SOURCE-COMPUTER. 	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Ordenador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donde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se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escribió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el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fuente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.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3" algn="just">
              <a:lnSpc>
                <a:spcPts val="2600"/>
              </a:lnSpc>
              <a:buFontTx/>
              <a:buNone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OBJECT-COMPUTER. 	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Ordenador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donde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se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ejecuta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el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objeto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.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3" algn="just">
              <a:lnSpc>
                <a:spcPts val="2600"/>
              </a:lnSpc>
              <a:buFontTx/>
              <a:buNone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 SPECIAL-NAMES. 	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Cambiar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valores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para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constantes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 del </a:t>
            </a:r>
            <a:r>
              <a:rPr lang="en-GB" sz="2500" b="0" dirty="0" err="1">
                <a:latin typeface="Calibri" pitchFamily="34" charset="0"/>
                <a:cs typeface="Calibri" pitchFamily="34" charset="0"/>
              </a:rPr>
              <a:t>lenguaje</a:t>
            </a:r>
            <a:r>
              <a:rPr lang="en-GB" sz="2500" b="0" dirty="0">
                <a:latin typeface="Calibri" pitchFamily="34" charset="0"/>
                <a:cs typeface="Calibri" pitchFamily="34" charset="0"/>
              </a:rPr>
              <a:t>.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3" algn="just">
              <a:lnSpc>
                <a:spcPts val="2600"/>
              </a:lnSpc>
              <a:buFontTx/>
              <a:buNone/>
            </a:pPr>
            <a:endParaRPr lang="en-GB" sz="2500" dirty="0">
              <a:latin typeface="Calibri" pitchFamily="34" charset="0"/>
              <a:cs typeface="Calibri" pitchFamily="34" charset="0"/>
            </a:endParaRPr>
          </a:p>
          <a:p>
            <a:pPr lvl="3" algn="just">
              <a:lnSpc>
                <a:spcPts val="2600"/>
              </a:lnSpc>
              <a:buFontTx/>
              <a:buNone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INPUT-OUTPUT SECTION.</a:t>
            </a:r>
            <a:endParaRPr lang="es-ES" sz="2500" dirty="0">
              <a:latin typeface="Calibri" pitchFamily="34" charset="0"/>
              <a:cs typeface="Calibri" pitchFamily="34" charset="0"/>
            </a:endParaRPr>
          </a:p>
          <a:p>
            <a:pPr lvl="3" algn="just">
              <a:lnSpc>
                <a:spcPts val="2600"/>
              </a:lnSpc>
              <a:buFontTx/>
              <a:buNone/>
            </a:pPr>
            <a:r>
              <a:rPr lang="es-ES_tradnl" sz="2500" dirty="0">
                <a:latin typeface="Calibri" pitchFamily="34" charset="0"/>
                <a:cs typeface="Calibri" pitchFamily="34" charset="0"/>
              </a:rPr>
              <a:t>FILE-CONTROL.    </a:t>
            </a:r>
          </a:p>
          <a:p>
            <a:pPr lvl="3" algn="just">
              <a:lnSpc>
                <a:spcPts val="2600"/>
              </a:lnSpc>
              <a:buFontTx/>
              <a:buNone/>
            </a:pPr>
            <a:r>
              <a:rPr lang="es-ES_tradnl" sz="2500" dirty="0">
                <a:latin typeface="Calibri" pitchFamily="34" charset="0"/>
                <a:cs typeface="Calibri" pitchFamily="34" charset="0"/>
              </a:rPr>
              <a:t>         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SELECT </a:t>
            </a:r>
            <a:r>
              <a:rPr lang="es-ES_tradnl" sz="2500" b="0" i="1" dirty="0">
                <a:latin typeface="Calibri" pitchFamily="34" charset="0"/>
                <a:cs typeface="Calibri" pitchFamily="34" charset="0"/>
              </a:rPr>
              <a:t>nombre-fichero-</a:t>
            </a:r>
            <a:r>
              <a:rPr lang="es-ES_tradnl" sz="2500" b="0" i="1" dirty="0" err="1">
                <a:latin typeface="Calibri" pitchFamily="34" charset="0"/>
                <a:cs typeface="Calibri" pitchFamily="34" charset="0"/>
              </a:rPr>
              <a:t>int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  ASSIGN TO  </a:t>
            </a:r>
            <a:r>
              <a:rPr lang="es-ES_tradnl" sz="2500" b="0" i="1" dirty="0">
                <a:latin typeface="Calibri" pitchFamily="34" charset="0"/>
                <a:cs typeface="Calibri" pitchFamily="34" charset="0"/>
              </a:rPr>
              <a:t>nombre-externo</a:t>
            </a:r>
          </a:p>
          <a:p>
            <a:pPr lvl="3" algn="just">
              <a:lnSpc>
                <a:spcPts val="2600"/>
              </a:lnSpc>
              <a:buFontTx/>
              <a:buNone/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	ORGANIZATION IS 	</a:t>
            </a:r>
            <a:r>
              <a:rPr lang="es-ES_tradnl" sz="2500" b="0" i="1" dirty="0">
                <a:latin typeface="Calibri" pitchFamily="34" charset="0"/>
                <a:cs typeface="Calibri" pitchFamily="34" charset="0"/>
              </a:rPr>
              <a:t>[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SEQUENTIAL, INDEXED, RELATIVE]</a:t>
            </a:r>
            <a:endParaRPr lang="es-ES_tradnl" sz="2500" b="0" i="1" dirty="0">
              <a:latin typeface="Calibri" pitchFamily="34" charset="0"/>
              <a:cs typeface="Calibri" pitchFamily="34" charset="0"/>
            </a:endParaRPr>
          </a:p>
          <a:p>
            <a:pPr lvl="3" algn="just">
              <a:lnSpc>
                <a:spcPts val="2600"/>
              </a:lnSpc>
              <a:buFontTx/>
              <a:buNone/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	ACCESS MODE IS 	[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SEQUENTIAL, RANDOM, DYNAMIC] 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			FILE STATUS IS  	</a:t>
            </a:r>
            <a:r>
              <a:rPr lang="es-ES_tradnl" sz="2500" b="0" i="1" dirty="0">
                <a:latin typeface="Calibri" pitchFamily="34" charset="0"/>
                <a:cs typeface="Calibri" pitchFamily="34" charset="0"/>
              </a:rPr>
              <a:t>nombre-campo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.  </a:t>
            </a:r>
          </a:p>
          <a:p>
            <a:pPr lvl="3" algn="just">
              <a:lnSpc>
                <a:spcPts val="2600"/>
              </a:lnSpc>
              <a:buFontTx/>
              <a:buNone/>
            </a:pPr>
            <a:endParaRPr lang="es-ES_tradnl" sz="25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59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1195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ENVIRONMENT DIVISION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>
            <a:lum bright="38000" contrast="38000"/>
          </a:blip>
          <a:srcRect t="8810" b="5907"/>
          <a:stretch>
            <a:fillRect/>
          </a:stretch>
        </p:blipFill>
        <p:spPr bwMode="auto">
          <a:xfrm>
            <a:off x="773361" y="1476053"/>
            <a:ext cx="8229600" cy="495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2159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Estructura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98043" y="1260029"/>
            <a:ext cx="8772518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421142" y="1476053"/>
            <a:ext cx="6845539" cy="4417690"/>
            <a:chOff x="1604" y="958"/>
            <a:chExt cx="3983" cy="2608"/>
          </a:xfrm>
        </p:grpSpPr>
        <p:sp>
          <p:nvSpPr>
            <p:cNvPr id="15" name="AutoShape 3"/>
            <p:cNvSpPr>
              <a:spLocks noChangeArrowheads="1"/>
            </p:cNvSpPr>
            <p:nvPr/>
          </p:nvSpPr>
          <p:spPr bwMode="auto">
            <a:xfrm>
              <a:off x="1604" y="958"/>
              <a:ext cx="3983" cy="2608"/>
            </a:xfrm>
            <a:prstGeom prst="triangle">
              <a:avLst>
                <a:gd name="adj" fmla="val 49921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PROCEDURE DIVISION</a:t>
              </a:r>
            </a:p>
          </p:txBody>
        </p:sp>
        <p:sp>
          <p:nvSpPr>
            <p:cNvPr id="16" name="AutoShape 4"/>
            <p:cNvSpPr>
              <a:spLocks noChangeArrowheads="1"/>
            </p:cNvSpPr>
            <p:nvPr/>
          </p:nvSpPr>
          <p:spPr bwMode="auto">
            <a:xfrm>
              <a:off x="2064" y="960"/>
              <a:ext cx="3072" cy="2016"/>
            </a:xfrm>
            <a:prstGeom prst="triangle">
              <a:avLst>
                <a:gd name="adj" fmla="val 49921"/>
              </a:avLst>
            </a:prstGeom>
            <a:solidFill>
              <a:srgbClr val="BEBA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DATA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DIVISION</a:t>
              </a:r>
            </a:p>
          </p:txBody>
        </p:sp>
        <p:sp>
          <p:nvSpPr>
            <p:cNvPr id="17" name="AutoShape 5"/>
            <p:cNvSpPr>
              <a:spLocks noChangeArrowheads="1"/>
            </p:cNvSpPr>
            <p:nvPr/>
          </p:nvSpPr>
          <p:spPr bwMode="auto">
            <a:xfrm>
              <a:off x="2544" y="960"/>
              <a:ext cx="2112" cy="1392"/>
            </a:xfrm>
            <a:prstGeom prst="triangle">
              <a:avLst>
                <a:gd name="adj" fmla="val 49921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ENVIRONMENT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DIVISION</a:t>
              </a:r>
            </a:p>
          </p:txBody>
        </p:sp>
        <p:sp>
          <p:nvSpPr>
            <p:cNvPr id="18" name="AutoShape 6"/>
            <p:cNvSpPr>
              <a:spLocks noChangeArrowheads="1"/>
            </p:cNvSpPr>
            <p:nvPr/>
          </p:nvSpPr>
          <p:spPr bwMode="auto">
            <a:xfrm>
              <a:off x="2976" y="960"/>
              <a:ext cx="1248" cy="816"/>
            </a:xfrm>
            <a:prstGeom prst="triangle">
              <a:avLst>
                <a:gd name="adj" fmla="val 49921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IDENTIFICATION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 DIVISION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3192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1195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DATA DIVISION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2196133"/>
            <a:ext cx="8856984" cy="4464496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845369" y="2556173"/>
            <a:ext cx="8352928" cy="391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buFontTx/>
              <a:buNone/>
            </a:pPr>
            <a:endParaRPr lang="es-ES_tradnl" dirty="0"/>
          </a:p>
          <a:p>
            <a:pPr lvl="1" algn="just">
              <a:buFontTx/>
              <a:buNone/>
            </a:pPr>
            <a:r>
              <a:rPr lang="es-ES_tradnl" dirty="0"/>
              <a:t>FILE SECTION</a:t>
            </a:r>
          </a:p>
          <a:p>
            <a:pPr lvl="2" algn="just"/>
            <a:r>
              <a:rPr lang="es-ES" sz="2500" b="0" dirty="0">
                <a:latin typeface="Calibri" pitchFamily="34" charset="0"/>
                <a:cs typeface="Calibri" pitchFamily="34" charset="0"/>
              </a:rPr>
              <a:t>Descripción de ficheros de entrada y de salida que intervienen en el programa.</a:t>
            </a:r>
          </a:p>
          <a:p>
            <a:pPr lvl="2" algn="just">
              <a:buFontTx/>
              <a:buNone/>
            </a:pPr>
            <a:endParaRPr lang="es-ES_tradnl" dirty="0"/>
          </a:p>
          <a:p>
            <a:pPr lvl="1" algn="just">
              <a:buFontTx/>
              <a:buNone/>
            </a:pPr>
            <a:r>
              <a:rPr lang="es-ES_tradnl" dirty="0"/>
              <a:t>WORKING STORAGE</a:t>
            </a:r>
            <a:r>
              <a:rPr lang="es-ES_tradnl" baseline="0" dirty="0"/>
              <a:t> </a:t>
            </a:r>
            <a:r>
              <a:rPr lang="es-ES_tradnl" dirty="0"/>
              <a:t>SECTION</a:t>
            </a:r>
          </a:p>
          <a:p>
            <a:pPr lvl="1" algn="just">
              <a:buFontTx/>
              <a:buNone/>
            </a:pPr>
            <a:r>
              <a:rPr lang="es-ES_tradnl" dirty="0"/>
              <a:t>	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Definir los campos de trabajo necesarios</a:t>
            </a:r>
            <a:r>
              <a:rPr lang="es-ES_tradnl" dirty="0"/>
              <a:t>.</a:t>
            </a:r>
          </a:p>
          <a:p>
            <a:pPr lvl="1" algn="just">
              <a:buFontTx/>
              <a:buNone/>
            </a:pPr>
            <a:endParaRPr lang="es-ES_tradnl" dirty="0"/>
          </a:p>
          <a:p>
            <a:pPr lvl="1" algn="just">
              <a:buFontTx/>
              <a:buNone/>
            </a:pPr>
            <a:r>
              <a:rPr lang="es-ES_tradnl" dirty="0"/>
              <a:t>LINKAGE SECTION</a:t>
            </a:r>
          </a:p>
          <a:p>
            <a:pPr lvl="2" algn="just">
              <a:lnSpc>
                <a:spcPct val="110000"/>
              </a:lnSpc>
              <a:spcBef>
                <a:spcPct val="15000"/>
              </a:spcBef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Esta sección solo se incluirá en el caso de que el programa sea una rutina, ya que es la zona que sirve para comunicarse con el programa que la invoca.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2" algn="just"/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 algn="just">
              <a:buFontTx/>
              <a:buNone/>
            </a:pPr>
            <a:endParaRPr lang="es-ES_tradnl" dirty="0"/>
          </a:p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endParaRPr lang="es-ES_tradnl" sz="25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 bwMode="auto">
          <a:xfrm>
            <a:off x="485329" y="1260029"/>
            <a:ext cx="8856984" cy="79208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2" name="Rectangle 2051"/>
          <p:cNvSpPr>
            <a:spLocks noChangeArrowheads="1"/>
          </p:cNvSpPr>
          <p:nvPr/>
        </p:nvSpPr>
        <p:spPr bwMode="auto">
          <a:xfrm>
            <a:off x="773361" y="1260029"/>
            <a:ext cx="8712968" cy="33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90500">
              <a:lnSpc>
                <a:spcPts val="3600"/>
              </a:lnSpc>
              <a:spcBef>
                <a:spcPts val="800"/>
              </a:spcBef>
              <a:buClr>
                <a:srgbClr val="808080"/>
              </a:buClr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FUNCIONES	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Identificar todos los nombres de datos utilizados en el programa.</a:t>
            </a:r>
          </a:p>
          <a:p>
            <a:pPr defTabSz="190500">
              <a:lnSpc>
                <a:spcPts val="3600"/>
              </a:lnSpc>
              <a:spcBef>
                <a:spcPts val="800"/>
              </a:spcBef>
              <a:buClr>
                <a:srgbClr val="808080"/>
              </a:buClr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defTabSz="190500">
              <a:lnSpc>
                <a:spcPts val="3600"/>
              </a:lnSpc>
              <a:spcBef>
                <a:spcPts val="800"/>
              </a:spcBef>
              <a:buClr>
                <a:srgbClr val="808080"/>
              </a:buClr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DIVISIONES</a:t>
            </a:r>
          </a:p>
        </p:txBody>
      </p:sp>
    </p:spTree>
    <p:extLst>
      <p:ext uri="{BB962C8B-B14F-4D97-AF65-F5344CB8AC3E}">
        <p14:creationId xmlns:p14="http://schemas.microsoft.com/office/powerpoint/2010/main" val="162159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1195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FILE SECTION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773361" y="1404045"/>
            <a:ext cx="8424936" cy="5801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SINTAXIS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dirty="0"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FD  </a:t>
            </a:r>
            <a:r>
              <a:rPr lang="es-ES_tradnl" sz="2500" b="0" i="1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Nombre_fichero_int</a:t>
            </a:r>
            <a:endParaRPr lang="es-ES_tradnl" sz="2500" b="0" i="1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          	     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LABEL RECORD ARE  </a:t>
            </a:r>
            <a:r>
              <a:rPr lang="es-ES_tradnl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etiquetado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   BLOCK CONTAINS </a:t>
            </a:r>
            <a:r>
              <a:rPr lang="es-ES_tradnl" sz="2500" b="0" i="1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tamaño_bloque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RECORDS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      RECORD CONTAINS </a:t>
            </a:r>
            <a:r>
              <a:rPr lang="es-ES_tradnl" sz="2500" b="0" i="1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tamaño_registro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CHARACTERES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   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RECORDING MODE IS  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es-ES_tradnl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 | V</a:t>
            </a: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      DATA RECORD IS </a:t>
            </a:r>
            <a:r>
              <a:rPr lang="es-ES_tradnl" sz="2500" b="0" i="1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nombre_registro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.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              01   </a:t>
            </a:r>
            <a:r>
              <a:rPr lang="es-ES_tradnl" sz="2500" b="0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Nombre_registro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                          PIC X(80).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endParaRPr lang="es-ES_tradnl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Donde: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etiquetado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 STANDARD | OMITTED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tamaño del bloque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 Número de registros que componen un bloque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tamaño_registro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 Longitud del registro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nombre_registro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	 El nombre del registro o buffer del fichero</a:t>
            </a:r>
            <a:endParaRPr lang="es-ES_tradnl" sz="2800" dirty="0">
              <a:sym typeface="Wingdings" pitchFamily="2" charset="2"/>
            </a:endParaRPr>
          </a:p>
          <a:p>
            <a:pPr lvl="1" algn="just">
              <a:buFontTx/>
              <a:buNone/>
            </a:pPr>
            <a:endParaRPr lang="es-ES_tradnl" dirty="0"/>
          </a:p>
          <a:p>
            <a:pPr lvl="3" algn="just" defTabSz="762000">
              <a:lnSpc>
                <a:spcPts val="2000"/>
              </a:lnSpc>
              <a:spcBef>
                <a:spcPct val="50000"/>
              </a:spcBef>
              <a:buFontTx/>
              <a:buNone/>
            </a:pPr>
            <a:endParaRPr lang="es-ES_tradnl" sz="25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675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1195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FILE SECTION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lum bright="36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10" b="5907"/>
          <a:stretch>
            <a:fillRect/>
          </a:stretch>
        </p:blipFill>
        <p:spPr bwMode="auto">
          <a:xfrm>
            <a:off x="799021" y="1407629"/>
            <a:ext cx="822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4621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539949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WORKING</a:t>
            </a:r>
            <a:r>
              <a:rPr lang="es-ES" sz="3600" baseline="0" dirty="0"/>
              <a:t> </a:t>
            </a:r>
            <a:r>
              <a:rPr lang="es-ES" sz="3600" dirty="0"/>
              <a:t>STORAGE SECTION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115212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773361" y="1260029"/>
            <a:ext cx="7920880" cy="1041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SINTAXIS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- Estructura árbol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- Se empieza por nivel 01, y se incrementa de 5 en 5 los siguientes niveles</a:t>
            </a:r>
          </a:p>
        </p:txBody>
      </p:sp>
      <p:sp>
        <p:nvSpPr>
          <p:cNvPr id="8" name="7 Rectángulo redondeado"/>
          <p:cNvSpPr/>
          <p:nvPr/>
        </p:nvSpPr>
        <p:spPr bwMode="auto">
          <a:xfrm>
            <a:off x="485329" y="2556173"/>
            <a:ext cx="8850041" cy="4176464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637859" y="2597045"/>
            <a:ext cx="8697511" cy="4503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CLÁUSULAS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   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PICTURE</a:t>
            </a:r>
            <a:r>
              <a:rPr lang="es-ES_tradnl" sz="25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   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Describe tamaño y formato del campo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         PIC X(n) 	-&gt; Alfanumérico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         PIC 9(n) 	-&gt; Numérico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         PIC 9(n)V(m) 	-&gt; Decimal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         PIC S9(n)	 -&gt; Con signo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VALUE</a:t>
            </a:r>
            <a:r>
              <a:rPr lang="es-ES_tradnl" sz="250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 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Asigna valores iniciales. Puede variar</a:t>
            </a:r>
            <a:r>
              <a:rPr lang="es-ES_tradnl" sz="2500" b="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durante la ejecución del programa 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COMP-3</a:t>
            </a:r>
            <a:r>
              <a:rPr lang="es-ES_tradnl" sz="250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Comprimir campos numéricos (Longitud del campo + 1) / 2)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FILLER </a:t>
            </a:r>
            <a:r>
              <a:rPr lang="es-ES_tradnl" sz="25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     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Etiqueta con la cual definimos un campo con valor constante. No varía durante la 	          ejecución del programa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endParaRPr lang="es-ES_tradnl" sz="25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30686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539949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Componentes</a:t>
            </a:r>
            <a:r>
              <a:rPr lang="es-ES" sz="3600" baseline="0" dirty="0"/>
              <a:t> </a:t>
            </a:r>
            <a:r>
              <a:rPr lang="es-ES" sz="3600" dirty="0"/>
              <a:t>WORKING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773361" y="1680730"/>
            <a:ext cx="8280920" cy="4559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8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CONSTANTES, VARIABLES, CONTADORES</a:t>
            </a:r>
            <a:r>
              <a:rPr lang="es-ES_tradnl" sz="28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8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Y ACUMULADORES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	1. Sólo pueden contener letras, números y guiones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	2. Deben empezar por un carácter no numérico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	3. No pueden contener caracteres especiales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	4. No pueden terminar con un </a:t>
            </a:r>
            <a:r>
              <a:rPr lang="es-ES_tradnl" sz="2500" b="0" dirty="0" err="1">
                <a:latin typeface="Calibri" pitchFamily="34" charset="0"/>
                <a:cs typeface="Calibri" pitchFamily="34" charset="0"/>
              </a:rPr>
              <a:t>guión</a:t>
            </a:r>
            <a:endParaRPr lang="es-ES_tradnl" sz="2500" b="0" dirty="0">
              <a:latin typeface="Calibri" pitchFamily="34" charset="0"/>
              <a:cs typeface="Calibri" pitchFamily="34" charset="0"/>
            </a:endParaRP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	5. No puede contener espacios en blanco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	6. Debe ser único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	7. La longitud máxima es de 30 caracteres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	8. No pueden ser palabras reservadas Cobol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8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8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endParaRPr lang="es-ES_tradnl" sz="2800" dirty="0">
              <a:solidFill>
                <a:srgbClr val="9AAE04"/>
              </a:solidFill>
              <a:latin typeface="Calibri" pitchFamily="34" charset="0"/>
              <a:cs typeface="Calibri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57919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539949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Componentes</a:t>
            </a:r>
            <a:r>
              <a:rPr lang="es-ES" sz="3600" baseline="0" dirty="0"/>
              <a:t> </a:t>
            </a:r>
            <a:r>
              <a:rPr lang="es-ES" sz="3600" dirty="0"/>
              <a:t>WORKING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lum bright="38000" contras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42" r="10014" b="6866"/>
          <a:stretch>
            <a:fillRect/>
          </a:stretch>
        </p:blipFill>
        <p:spPr bwMode="auto">
          <a:xfrm>
            <a:off x="845370" y="1484784"/>
            <a:ext cx="7839844" cy="486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9570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539949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Componentes</a:t>
            </a:r>
            <a:r>
              <a:rPr lang="es-ES" sz="3600" baseline="0" dirty="0"/>
              <a:t> </a:t>
            </a:r>
            <a:r>
              <a:rPr lang="es-ES" sz="3600" dirty="0"/>
              <a:t>WORKING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519304" y="1548061"/>
            <a:ext cx="8856984" cy="17281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773361" y="1404046"/>
            <a:ext cx="8280920" cy="1746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GRUPOS DE CAMPOS</a:t>
            </a:r>
            <a:r>
              <a:rPr lang="es-ES_tradnl" sz="25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 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Compuesto por campos elementales, en niveles inferiores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      La longitud total es la suma de la longitud de los campos elementales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     Todo grupo es tratado como un campo alfanumérico, aunque sus 		      campos elementales sean numéricos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     		</a:t>
            </a:r>
          </a:p>
        </p:txBody>
      </p:sp>
      <p:sp>
        <p:nvSpPr>
          <p:cNvPr id="10" name="9 Rectángulo redondeado"/>
          <p:cNvSpPr/>
          <p:nvPr/>
        </p:nvSpPr>
        <p:spPr bwMode="auto">
          <a:xfrm>
            <a:off x="519303" y="3420270"/>
            <a:ext cx="8823009" cy="2376263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070" y="3780309"/>
            <a:ext cx="8020615" cy="1593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1559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467941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Componentes</a:t>
            </a:r>
            <a:r>
              <a:rPr lang="es-ES" sz="3600" baseline="0" dirty="0"/>
              <a:t> </a:t>
            </a:r>
            <a:r>
              <a:rPr lang="es-ES" sz="3600" dirty="0"/>
              <a:t>WORKING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624628" y="1116013"/>
            <a:ext cx="8578385" cy="5419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CAMPOS EDITADOS</a:t>
            </a:r>
            <a:r>
              <a:rPr lang="es-ES_tradnl" sz="25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 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Campos</a:t>
            </a:r>
            <a:r>
              <a:rPr lang="es-ES_tradnl" sz="2500" b="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con formato especial para ser representados</a:t>
            </a:r>
            <a:r>
              <a:rPr lang="es-ES_tradnl" sz="2500" b="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por pantalla o en 		   informe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1.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Representar un campo decimal, usaremos un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punto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en vez de V.</a:t>
            </a:r>
          </a:p>
          <a:p>
            <a:pPr lvl="1">
              <a:buClr>
                <a:srgbClr val="808080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Ejemplo:</a:t>
            </a:r>
          </a:p>
          <a:p>
            <a:pPr lvl="1">
              <a:buClr>
                <a:srgbClr val="808080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	05  DESCUENTO	PIC 999.99</a:t>
            </a:r>
          </a:p>
          <a:p>
            <a:pPr lvl="1">
              <a:buClr>
                <a:srgbClr val="808080"/>
              </a:buClr>
              <a:defRPr/>
            </a:pPr>
            <a:endParaRPr lang="es-ES_tradnl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buClr>
                <a:srgbClr val="808080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2.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También podemos usar separaciones de miles usando una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coma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:</a:t>
            </a:r>
          </a:p>
          <a:p>
            <a:pPr lvl="1">
              <a:buClr>
                <a:srgbClr val="808080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Ejemplo:</a:t>
            </a:r>
          </a:p>
          <a:p>
            <a:pPr lvl="1">
              <a:buClr>
                <a:srgbClr val="808080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	05  DESCUENTO	PIC 9,999.99</a:t>
            </a:r>
          </a:p>
          <a:p>
            <a:pPr lvl="1">
              <a:buClr>
                <a:srgbClr val="808080"/>
              </a:buClr>
              <a:defRPr/>
            </a:pPr>
            <a:endParaRPr lang="es-ES_tradnl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buClr>
                <a:srgbClr val="808080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3.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Si además queremos suprimir los ceros de la izquierda usaremos la letra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Z</a:t>
            </a:r>
          </a:p>
          <a:p>
            <a:pPr lvl="1">
              <a:buClr>
                <a:srgbClr val="808080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Ejemplo:</a:t>
            </a:r>
          </a:p>
          <a:p>
            <a:pPr lvl="1">
              <a:buClr>
                <a:srgbClr val="808080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	05  DESCUENTO	PIC ZZ9.99</a:t>
            </a:r>
          </a:p>
          <a:p>
            <a:pPr lvl="1">
              <a:buClr>
                <a:srgbClr val="808080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</a:p>
          <a:p>
            <a:pPr lvl="1">
              <a:buClr>
                <a:srgbClr val="808080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4.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También tenemos la posibilidad de usar el símbolo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$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para indicar que se trata de 	una cantidad monetaria. Además también nos sirve para suprimir ceros de la 	izquierda</a:t>
            </a:r>
          </a:p>
          <a:p>
            <a:pPr lvl="1">
              <a:lnSpc>
                <a:spcPct val="100000"/>
              </a:lnSpc>
              <a:buClr>
                <a:srgbClr val="808080"/>
              </a:buClr>
              <a:defRPr/>
            </a:pPr>
            <a:r>
              <a:rPr lang="es-ES_tradnl" sz="2800" dirty="0"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5.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Si queremos representar el signo de un campo usaremos los símbolos – y +. Si 	usamos +, se representará el signo independientemente de que sea positivo o 	negativo. Si usamos – sólo se representará en el caso de ser negativo</a:t>
            </a:r>
            <a:endParaRPr lang="es-ES_tradnl" sz="2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23900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 bwMode="auto">
          <a:xfrm>
            <a:off x="485329" y="1260029"/>
            <a:ext cx="8785232" cy="18002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270200" y="1260029"/>
            <a:ext cx="9220329" cy="1964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  <a:buClr>
                <a:schemeClr val="accent2"/>
              </a:buClr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COPY 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Permite introducir código en un programa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Este código se incluirá en tiempo de compilación.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Debe incluirse en el sitio donde queremos que está emplazado ese código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  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defRPr/>
            </a:pP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		     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Sintaxis: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COPY</a:t>
            </a:r>
            <a:r>
              <a:rPr lang="es-ES" sz="250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nom_copybook</a:t>
            </a: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800" dirty="0"/>
              <a:t> </a:t>
            </a:r>
            <a:endParaRPr lang="es-ES" sz="2500" b="0" i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 bwMode="auto">
          <a:xfrm>
            <a:off x="485329" y="3224668"/>
            <a:ext cx="8785232" cy="3465671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335404" y="3279150"/>
            <a:ext cx="8929248" cy="3411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REDEFINES</a:t>
            </a:r>
            <a:r>
              <a:rPr lang="es-ES" sz="2800" dirty="0"/>
              <a:t> 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Permite tener dos estructuras distintas de una misma variable</a:t>
            </a:r>
            <a:endParaRPr lang="es-ES" sz="2800" dirty="0"/>
          </a:p>
          <a:p>
            <a:pPr lvl="1">
              <a:defRPr/>
            </a:pPr>
            <a:r>
              <a:rPr lang="es-ES" sz="2800" dirty="0"/>
              <a:t>	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Cuando se redefine una variable a otra, lo que estamos haciendo es usar el 		mismo espacio de memoria para las 2 variables.</a:t>
            </a:r>
          </a:p>
          <a:p>
            <a:pPr lvl="1">
              <a:defRPr/>
            </a:pPr>
            <a:endParaRPr lang="es-ES" sz="2800" dirty="0"/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05  DATOS.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      	      10  PERSONA         PIC X(30)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      10  DIRECCION      PIC X(30).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05  DATOS2                  REDEFINES DATOS.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      	      10  NOMBRE          PIC X(15).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              	      10  APELLIDO         PIC X(15).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     	      10  DIRECCION       PIC X(30).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16" name="1 Título"/>
          <p:cNvSpPr txBox="1">
            <a:spLocks/>
          </p:cNvSpPr>
          <p:nvPr/>
        </p:nvSpPr>
        <p:spPr>
          <a:xfrm>
            <a:off x="485329" y="467941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Componentes</a:t>
            </a:r>
            <a:r>
              <a:rPr lang="es-ES" sz="3600" baseline="0" dirty="0"/>
              <a:t> </a:t>
            </a:r>
            <a:r>
              <a:rPr lang="es-ES" sz="3600" dirty="0"/>
              <a:t>WORKING</a:t>
            </a:r>
          </a:p>
        </p:txBody>
      </p:sp>
    </p:spTree>
    <p:extLst>
      <p:ext uri="{BB962C8B-B14F-4D97-AF65-F5344CB8AC3E}">
        <p14:creationId xmlns:p14="http://schemas.microsoft.com/office/powerpoint/2010/main" val="3744586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 redondeado"/>
          <p:cNvSpPr/>
          <p:nvPr/>
        </p:nvSpPr>
        <p:spPr bwMode="auto">
          <a:xfrm>
            <a:off x="485329" y="1260029"/>
            <a:ext cx="8779323" cy="53285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485330" y="2124125"/>
            <a:ext cx="8424936" cy="3221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REDEFINES</a:t>
            </a:r>
            <a:r>
              <a:rPr lang="es-ES" sz="3000" dirty="0">
                <a:latin typeface="Calibri" pitchFamily="34" charset="0"/>
                <a:cs typeface="Calibri" pitchFamily="34" charset="0"/>
              </a:rPr>
              <a:t> – Reglas de codificación	</a:t>
            </a:r>
            <a:endParaRPr lang="es-ES" sz="30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1. Todos los campos pueden ser redefinidos, pero sólo entre campos del mismo nivel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2. No puede haber campos entre 2 campos redefinidos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3. El campo redefinido puede usar la cláusula VALUE. El </a:t>
            </a:r>
            <a:r>
              <a:rPr lang="es-ES" sz="2500" b="0" dirty="0" err="1">
                <a:latin typeface="Calibri" pitchFamily="34" charset="0"/>
                <a:cs typeface="Calibri" pitchFamily="34" charset="0"/>
              </a:rPr>
              <a:t>redefinidor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NO.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4. No se puede usar con niveles 88.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5. La longitud del </a:t>
            </a:r>
            <a:r>
              <a:rPr lang="es-ES" sz="2500" b="0" dirty="0" err="1">
                <a:latin typeface="Calibri" pitchFamily="34" charset="0"/>
                <a:cs typeface="Calibri" pitchFamily="34" charset="0"/>
              </a:rPr>
              <a:t>redefinidor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tiene que ser igual o menor que el redefinido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1 Título"/>
          <p:cNvSpPr txBox="1">
            <a:spLocks/>
          </p:cNvSpPr>
          <p:nvPr/>
        </p:nvSpPr>
        <p:spPr>
          <a:xfrm>
            <a:off x="485330" y="426023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Componentes</a:t>
            </a:r>
            <a:r>
              <a:rPr lang="es-ES" sz="3600" baseline="0" dirty="0"/>
              <a:t> </a:t>
            </a:r>
            <a:r>
              <a:rPr lang="es-ES" sz="3600" dirty="0"/>
              <a:t>WORKING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168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539949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Componentes</a:t>
            </a:r>
            <a:r>
              <a:rPr lang="es-ES" sz="3600" baseline="0" dirty="0"/>
              <a:t> </a:t>
            </a:r>
            <a:r>
              <a:rPr lang="es-ES" sz="3600" dirty="0"/>
              <a:t>WORKING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223224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628763" y="1444103"/>
            <a:ext cx="8928992" cy="1864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8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SWITCHES    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Una variable de este tipo es usada para poder detectar en la ejecución 	                     	         del programa que una condición a cambiado.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b="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Un </a:t>
            </a:r>
            <a:r>
              <a:rPr lang="es-ES_tradnl" sz="2500" b="0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Switch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es una variable que contiene condiciones. Estas son definidas a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nivel 88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.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        El nivel 88 es una condición que sólo puede tomar los valores 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TRUE o FALSE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.</a:t>
            </a:r>
          </a:p>
          <a:p>
            <a:pPr lvl="1">
              <a:buClr>
                <a:srgbClr val="808080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b="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Sólo una de ellas será TRUE</a:t>
            </a:r>
            <a:r>
              <a:rPr lang="es-ES_tradnl" sz="2800" dirty="0">
                <a:sym typeface="Wingdings" pitchFamily="2" charset="2"/>
              </a:rPr>
              <a:t>.</a:t>
            </a:r>
            <a:endParaRPr lang="es-ES_tradnl" sz="2800" dirty="0">
              <a:solidFill>
                <a:srgbClr val="9AAE04"/>
              </a:solidFill>
              <a:latin typeface="Calibri" pitchFamily="34" charset="0"/>
              <a:cs typeface="Calibri" pitchFamily="34" charset="0"/>
              <a:sym typeface="Wingdings" pitchFamily="2" charset="2"/>
            </a:endParaRPr>
          </a:p>
        </p:txBody>
      </p:sp>
      <p:sp>
        <p:nvSpPr>
          <p:cNvPr id="8" name="7 Rectángulo redondeado"/>
          <p:cNvSpPr/>
          <p:nvPr/>
        </p:nvSpPr>
        <p:spPr bwMode="auto">
          <a:xfrm>
            <a:off x="485329" y="3644677"/>
            <a:ext cx="8856984" cy="272792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41" y="4052504"/>
            <a:ext cx="8613099" cy="1912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9570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Estructura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98043" y="1260029"/>
            <a:ext cx="8772518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grpSp>
        <p:nvGrpSpPr>
          <p:cNvPr id="14" name="Group 2"/>
          <p:cNvGrpSpPr>
            <a:grpSpLocks/>
          </p:cNvGrpSpPr>
          <p:nvPr/>
        </p:nvGrpSpPr>
        <p:grpSpPr bwMode="auto">
          <a:xfrm>
            <a:off x="1421142" y="1476053"/>
            <a:ext cx="6845539" cy="4417690"/>
            <a:chOff x="1604" y="958"/>
            <a:chExt cx="3983" cy="2608"/>
          </a:xfrm>
        </p:grpSpPr>
        <p:sp>
          <p:nvSpPr>
            <p:cNvPr id="15" name="AutoShape 3"/>
            <p:cNvSpPr>
              <a:spLocks noChangeArrowheads="1"/>
            </p:cNvSpPr>
            <p:nvPr/>
          </p:nvSpPr>
          <p:spPr bwMode="auto">
            <a:xfrm>
              <a:off x="1604" y="958"/>
              <a:ext cx="3983" cy="2608"/>
            </a:xfrm>
            <a:prstGeom prst="triangle">
              <a:avLst>
                <a:gd name="adj" fmla="val 49921"/>
              </a:avLst>
            </a:prstGeom>
            <a:solidFill>
              <a:srgbClr val="FF993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3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PROCEDURE DIVISION</a:t>
              </a:r>
            </a:p>
          </p:txBody>
        </p:sp>
        <p:sp>
          <p:nvSpPr>
            <p:cNvPr id="16" name="AutoShape 4"/>
            <p:cNvSpPr>
              <a:spLocks noChangeArrowheads="1"/>
            </p:cNvSpPr>
            <p:nvPr/>
          </p:nvSpPr>
          <p:spPr bwMode="auto">
            <a:xfrm>
              <a:off x="2064" y="960"/>
              <a:ext cx="3072" cy="2016"/>
            </a:xfrm>
            <a:prstGeom prst="triangle">
              <a:avLst>
                <a:gd name="adj" fmla="val 49921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DATA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DIVISION</a:t>
              </a:r>
            </a:p>
          </p:txBody>
        </p:sp>
        <p:sp>
          <p:nvSpPr>
            <p:cNvPr id="17" name="AutoShape 5"/>
            <p:cNvSpPr>
              <a:spLocks noChangeArrowheads="1"/>
            </p:cNvSpPr>
            <p:nvPr/>
          </p:nvSpPr>
          <p:spPr bwMode="auto">
            <a:xfrm>
              <a:off x="2544" y="960"/>
              <a:ext cx="2112" cy="1392"/>
            </a:xfrm>
            <a:prstGeom prst="triangle">
              <a:avLst>
                <a:gd name="adj" fmla="val 49921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endParaRPr lang="es-ES_tradnl" sz="2100" b="1" dirty="0"/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ENVIRONMENT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DIVISION</a:t>
              </a:r>
            </a:p>
          </p:txBody>
        </p:sp>
        <p:sp>
          <p:nvSpPr>
            <p:cNvPr id="18" name="AutoShape 6"/>
            <p:cNvSpPr>
              <a:spLocks noChangeArrowheads="1"/>
            </p:cNvSpPr>
            <p:nvPr/>
          </p:nvSpPr>
          <p:spPr bwMode="auto">
            <a:xfrm>
              <a:off x="2976" y="960"/>
              <a:ext cx="1248" cy="816"/>
            </a:xfrm>
            <a:prstGeom prst="triangle">
              <a:avLst>
                <a:gd name="adj" fmla="val 49921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IDENTIFICATION</a:t>
              </a:r>
            </a:p>
            <a:p>
              <a:pPr algn="ctr">
                <a:lnSpc>
                  <a:spcPct val="100000"/>
                </a:lnSpc>
                <a:buClrTx/>
              </a:pPr>
              <a:r>
                <a:rPr lang="es-ES_tradnl" sz="3000" b="1" dirty="0">
                  <a:latin typeface="Calibri" pitchFamily="34" charset="0"/>
                  <a:cs typeface="Calibri" pitchFamily="34" charset="0"/>
                </a:rPr>
                <a:t> DIVISION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4690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PROCEDURE DIVISION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98043" y="1260029"/>
            <a:ext cx="8772518" cy="187220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773361" y="1260029"/>
            <a:ext cx="7920880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SINTAXIS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SECCIONES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Conjunto</a:t>
            </a:r>
            <a:r>
              <a:rPr lang="es-ES_tradnl" sz="2500" b="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de párrafos. Empieza en el Margen A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PÁRRAFOS	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Conjunto de sentencias. Termina en un punto</a:t>
            </a:r>
            <a:endParaRPr lang="es-ES_tradnl" sz="25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SENTENCIAS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Instrucciones. No tienen por qué terminar en punto	</a:t>
            </a:r>
          </a:p>
        </p:txBody>
      </p:sp>
      <p:sp>
        <p:nvSpPr>
          <p:cNvPr id="11" name="10 Rectángulo redondeado"/>
          <p:cNvSpPr/>
          <p:nvPr/>
        </p:nvSpPr>
        <p:spPr bwMode="auto">
          <a:xfrm>
            <a:off x="469721" y="3309632"/>
            <a:ext cx="8800840" cy="212163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15225" y="3492277"/>
            <a:ext cx="85098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DIVISIÓN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INICIO	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Párrafo</a:t>
            </a:r>
            <a:r>
              <a:rPr lang="es-ES_tradnl" sz="2500" b="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donde se prepara el proceso del programa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PROCESO		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Párrafo que se encarga de ejecutar el proceso del programa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               FINAL		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Párrafo que da por finalizado el proceso del programa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</a:p>
        </p:txBody>
      </p:sp>
      <p:sp>
        <p:nvSpPr>
          <p:cNvPr id="8" name="7 Rectángulo redondeado"/>
          <p:cNvSpPr/>
          <p:nvPr/>
        </p:nvSpPr>
        <p:spPr bwMode="auto">
          <a:xfrm>
            <a:off x="457264" y="5583670"/>
            <a:ext cx="8800840" cy="1060819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615224" y="5583670"/>
            <a:ext cx="8509831" cy="682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STOP RUN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Fin de la ejecución del programa</a:t>
            </a:r>
          </a:p>
        </p:txBody>
      </p:sp>
    </p:spTree>
    <p:extLst>
      <p:ext uri="{BB962C8B-B14F-4D97-AF65-F5344CB8AC3E}">
        <p14:creationId xmlns:p14="http://schemas.microsoft.com/office/powerpoint/2010/main" val="12558105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Estructura de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PROCEDURE DIVISION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785232" cy="511256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33" y="1548061"/>
            <a:ext cx="8291224" cy="4536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68305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Introducción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 bwMode="auto">
          <a:xfrm>
            <a:off x="691470" y="1518830"/>
            <a:ext cx="8578835" cy="4853767"/>
          </a:xfrm>
          <a:prstGeom prst="roundRect">
            <a:avLst>
              <a:gd name="adj" fmla="val 5331"/>
            </a:avLst>
          </a:prstGeom>
          <a:solidFill>
            <a:schemeClr val="bg1"/>
          </a:solidFill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1. Introducción al lenguaje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2. Estructura de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aseline="0" dirty="0">
                <a:solidFill>
                  <a:srgbClr val="9AAE04"/>
                </a:solidFill>
                <a:latin typeface="Calibri"/>
              </a:rPr>
              <a:t>3. Sentencias 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4. Acceso a Ficheros de Datos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5. Compilando y Ejecutando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6. Definición y tratamiento de Tablas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7.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Matching</a:t>
            </a: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 de Ficheros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8. Programación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multimodular</a:t>
            </a: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2847335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Sentencias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Diferentes sentencias</a:t>
            </a:r>
          </a:p>
        </p:txBody>
      </p:sp>
      <p:sp>
        <p:nvSpPr>
          <p:cNvPr id="8" name="7 Rectángulo redondeado"/>
          <p:cNvSpPr/>
          <p:nvPr/>
        </p:nvSpPr>
        <p:spPr bwMode="auto">
          <a:xfrm>
            <a:off x="485329" y="1404045"/>
            <a:ext cx="8856983" cy="496855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773361" y="1931375"/>
            <a:ext cx="6840760" cy="3913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1.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SET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2. </a:t>
            </a:r>
            <a:r>
              <a:rPr lang="es-ES_tradnl" sz="2500" b="0">
                <a:latin typeface="Calibri" pitchFamily="34" charset="0"/>
                <a:cs typeface="Calibri" pitchFamily="34" charset="0"/>
                <a:sym typeface="Wingdings" pitchFamily="2" charset="2"/>
              </a:rPr>
              <a:t>INITIALIZE   </a:t>
            </a:r>
            <a:endParaRPr lang="es-ES_tradnl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3.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DISPLAY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4.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ACCEPT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5.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INSPECT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6.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MOVE	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7.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IF / ELSE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8.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EVALUATE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9.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PERFORM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10.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OPERACIONES ARITMÉTICAS </a:t>
            </a:r>
          </a:p>
          <a:p>
            <a:pPr marL="1588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 (ADD, SUBSTRACT, MULITPY, DIVIDE, COMPUTE)</a:t>
            </a:r>
          </a:p>
        </p:txBody>
      </p:sp>
    </p:spTree>
    <p:extLst>
      <p:ext uri="{BB962C8B-B14F-4D97-AF65-F5344CB8AC3E}">
        <p14:creationId xmlns:p14="http://schemas.microsoft.com/office/powerpoint/2010/main" val="3735015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Sentencias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SET, INITIALIZE, DISPLAY, ACCEPT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785232" cy="115212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270200" y="1260029"/>
            <a:ext cx="9220329" cy="1010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  <a:buClr>
                <a:schemeClr val="accent2"/>
              </a:buClr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1. SET       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Actualiza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una condición de un </a:t>
            </a:r>
            <a:r>
              <a:rPr lang="es-ES" sz="2500" b="0" dirty="0" err="1">
                <a:latin typeface="Calibri" pitchFamily="34" charset="0"/>
                <a:cs typeface="Calibri" pitchFamily="34" charset="0"/>
              </a:rPr>
              <a:t>switch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(nivel 88) a TRUE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    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Sintaxis: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SET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condición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TO TRUE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7 Rectángulo redondeado"/>
          <p:cNvSpPr/>
          <p:nvPr/>
        </p:nvSpPr>
        <p:spPr bwMode="auto">
          <a:xfrm>
            <a:off x="479421" y="2525033"/>
            <a:ext cx="8791139" cy="13992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1313" y="2412157"/>
            <a:ext cx="8929248" cy="1426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2. INITIALIZE	</a:t>
            </a:r>
            <a:r>
              <a:rPr lang="es-ES" sz="2800" dirty="0"/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Establece las variables numéricas a ceros y las variables alfanuméricas a  		              espacios</a:t>
            </a:r>
          </a:p>
          <a:p>
            <a:pPr lvl="1">
              <a:defRPr/>
            </a:pP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	       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Sintaxis: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 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INITIALIZE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nombre_variable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 bwMode="auto">
          <a:xfrm>
            <a:off x="485329" y="4068341"/>
            <a:ext cx="8779323" cy="1246495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270200" y="4068341"/>
            <a:ext cx="892924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3. DISPLAY</a:t>
            </a:r>
            <a:r>
              <a:rPr lang="es-ES" sz="2800" dirty="0"/>
              <a:t>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Muestra por pantalla el valor de un campo o un literal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 </a:t>
            </a:r>
          </a:p>
          <a:p>
            <a:pPr lvl="1">
              <a:defRPr/>
            </a:pP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   	        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Sintaxis: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   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DISPLAY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literal o campo_1</a:t>
            </a:r>
          </a:p>
        </p:txBody>
      </p:sp>
      <p:sp>
        <p:nvSpPr>
          <p:cNvPr id="13" name="12 Rectángulo redondeado"/>
          <p:cNvSpPr/>
          <p:nvPr/>
        </p:nvSpPr>
        <p:spPr bwMode="auto">
          <a:xfrm>
            <a:off x="479421" y="5425491"/>
            <a:ext cx="8785231" cy="1174487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259034" y="5314836"/>
            <a:ext cx="892924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4. ACCEPT</a:t>
            </a:r>
            <a:r>
              <a:rPr lang="es-ES" sz="2800" dirty="0"/>
              <a:t>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Recupera datos del sistema o del JCL 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</a:t>
            </a:r>
          </a:p>
          <a:p>
            <a:pPr lvl="1">
              <a:defRPr/>
            </a:pP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            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Sintaxis: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   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ACCEPT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variable_1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FROM</a:t>
            </a:r>
            <a:r>
              <a:rPr lang="es-ES" sz="2800" dirty="0">
                <a:solidFill>
                  <a:srgbClr val="C00000"/>
                </a:solidFill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(SYSIN, DATE, DAY, TIME)</a:t>
            </a:r>
          </a:p>
        </p:txBody>
      </p:sp>
    </p:spTree>
    <p:extLst>
      <p:ext uri="{BB962C8B-B14F-4D97-AF65-F5344CB8AC3E}">
        <p14:creationId xmlns:p14="http://schemas.microsoft.com/office/powerpoint/2010/main" val="2568368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Sentencias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INSPECT, MOVE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13321" y="1249079"/>
            <a:ext cx="9073008" cy="296327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269305" y="4317633"/>
            <a:ext cx="9544952" cy="2195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6. MOVE</a:t>
            </a:r>
            <a:r>
              <a:rPr lang="es-ES" sz="2800" dirty="0"/>
              <a:t>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Copia el contenido de una variable a otra, machacándose el valor del campo_2 con             	            el del campo_1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          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Si el campo_2 es menor que el campo_1, la información se truncará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           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Los campos numéricos se truncan por la izquierda y los alfanuméricos por la derecha</a:t>
            </a:r>
          </a:p>
          <a:p>
            <a:pPr lvl="1">
              <a:defRPr/>
            </a:pP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         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Sintaxis: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   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MOVE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campo_1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 TO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campo_2</a:t>
            </a:r>
          </a:p>
        </p:txBody>
      </p:sp>
      <p:sp>
        <p:nvSpPr>
          <p:cNvPr id="9" name="8 Rectángulo redondeado"/>
          <p:cNvSpPr/>
          <p:nvPr/>
        </p:nvSpPr>
        <p:spPr bwMode="auto">
          <a:xfrm>
            <a:off x="413321" y="4356372"/>
            <a:ext cx="9073008" cy="2156734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235900" y="1332036"/>
            <a:ext cx="9250429" cy="313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5. INSPECT</a:t>
            </a:r>
            <a:r>
              <a:rPr lang="es-ES" sz="2800" dirty="0"/>
              <a:t>  </a:t>
            </a:r>
            <a:r>
              <a:rPr lang="es-ES" sz="2500" b="0" dirty="0" err="1">
                <a:latin typeface="Calibri" pitchFamily="34" charset="0"/>
                <a:cs typeface="Calibri" pitchFamily="34" charset="0"/>
              </a:rPr>
              <a:t>Reemplaza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un carácter particular en un campo de datos por otro carácter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                Cuenta 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el número de veces que un carácter particular ocurre en un campo de datos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     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Sintaxis:</a:t>
            </a:r>
          </a:p>
          <a:p>
            <a:pPr lvl="1">
              <a:defRPr/>
            </a:pPr>
            <a:r>
              <a:rPr lang="en-GB" sz="2500" dirty="0">
                <a:latin typeface="Calibri" pitchFamily="34" charset="0"/>
                <a:cs typeface="Calibri" pitchFamily="34" charset="0"/>
              </a:rPr>
              <a:t>		INSPECT</a:t>
            </a:r>
            <a:r>
              <a:rPr lang="en-GB" sz="28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GB" sz="2500" b="0" i="1" dirty="0" err="1">
                <a:latin typeface="Calibri" pitchFamily="34" charset="0"/>
                <a:cs typeface="Calibri" pitchFamily="34" charset="0"/>
              </a:rPr>
              <a:t>identificador</a:t>
            </a:r>
            <a:r>
              <a:rPr lang="en-GB" sz="28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GB" sz="2500" dirty="0">
                <a:latin typeface="Calibri" pitchFamily="34" charset="0"/>
                <a:cs typeface="Calibri" pitchFamily="34" charset="0"/>
              </a:rPr>
              <a:t>TALLYING</a:t>
            </a:r>
            <a:r>
              <a:rPr lang="en-GB" sz="2800" dirty="0">
                <a:solidFill>
                  <a:srgbClr val="000000"/>
                </a:solidFill>
                <a:cs typeface="Times New Roman" pitchFamily="18" charset="0"/>
              </a:rPr>
              <a:t>  </a:t>
            </a:r>
            <a:r>
              <a:rPr lang="en-GB" sz="2500" b="0" i="1" dirty="0">
                <a:latin typeface="Calibri" pitchFamily="34" charset="0"/>
                <a:cs typeface="Calibri" pitchFamily="34" charset="0"/>
              </a:rPr>
              <a:t>variable_1</a:t>
            </a:r>
            <a:r>
              <a:rPr lang="en-GB" sz="28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GB" sz="2500" dirty="0">
                <a:latin typeface="Calibri" pitchFamily="34" charset="0"/>
                <a:cs typeface="Calibri" pitchFamily="34" charset="0"/>
              </a:rPr>
              <a:t>FOR</a:t>
            </a:r>
            <a:r>
              <a:rPr lang="en-GB" sz="28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GB" sz="2500" b="0" i="1" dirty="0">
                <a:latin typeface="Calibri" pitchFamily="34" charset="0"/>
                <a:cs typeface="Calibri" pitchFamily="34" charset="0"/>
              </a:rPr>
              <a:t>characters </a:t>
            </a:r>
          </a:p>
          <a:p>
            <a:pPr lvl="1">
              <a:defRPr/>
            </a:pPr>
            <a:r>
              <a:rPr lang="en-GB" sz="2800" dirty="0">
                <a:solidFill>
                  <a:srgbClr val="000000"/>
                </a:solidFill>
                <a:cs typeface="Times New Roman" pitchFamily="18" charset="0"/>
              </a:rPr>
              <a:t>		</a:t>
            </a:r>
            <a:r>
              <a:rPr lang="en-GB" sz="2500" dirty="0">
                <a:latin typeface="Calibri" pitchFamily="34" charset="0"/>
                <a:cs typeface="Calibri" pitchFamily="34" charset="0"/>
              </a:rPr>
              <a:t>INSPECT</a:t>
            </a:r>
            <a:r>
              <a:rPr lang="en-GB" sz="28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GB" sz="2500" b="0" i="1" dirty="0" err="1">
                <a:latin typeface="Calibri" pitchFamily="34" charset="0"/>
                <a:cs typeface="Calibri" pitchFamily="34" charset="0"/>
              </a:rPr>
              <a:t>identificador</a:t>
            </a:r>
            <a:r>
              <a:rPr lang="en-GB" sz="28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GB" sz="2500" dirty="0">
                <a:latin typeface="Calibri" pitchFamily="34" charset="0"/>
                <a:cs typeface="Calibri" pitchFamily="34" charset="0"/>
              </a:rPr>
              <a:t>REPLACING</a:t>
            </a:r>
            <a:r>
              <a:rPr lang="en-GB" sz="2800" dirty="0">
                <a:solidFill>
                  <a:srgbClr val="000000"/>
                </a:solidFill>
                <a:cs typeface="Times New Roman" pitchFamily="18" charset="0"/>
              </a:rPr>
              <a:t>  </a:t>
            </a:r>
            <a:r>
              <a:rPr lang="en-GB" sz="2500" b="0" i="1" dirty="0">
                <a:latin typeface="Calibri" pitchFamily="34" charset="0"/>
                <a:cs typeface="Calibri" pitchFamily="34" charset="0"/>
              </a:rPr>
              <a:t>characters</a:t>
            </a:r>
            <a:r>
              <a:rPr lang="en-GB" sz="28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GB" sz="2500" dirty="0">
                <a:latin typeface="Calibri" pitchFamily="34" charset="0"/>
                <a:cs typeface="Calibri" pitchFamily="34" charset="0"/>
              </a:rPr>
              <a:t>BY</a:t>
            </a:r>
            <a:r>
              <a:rPr lang="en-GB" sz="28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GB" sz="2500" b="0" i="1" dirty="0">
                <a:latin typeface="Calibri" pitchFamily="34" charset="0"/>
                <a:cs typeface="Calibri" pitchFamily="34" charset="0"/>
              </a:rPr>
              <a:t>cambio_1 </a:t>
            </a:r>
          </a:p>
          <a:p>
            <a:pPr lvl="1">
              <a:defRPr/>
            </a:pPr>
            <a:r>
              <a:rPr lang="es-ES" sz="2800" b="0" baseline="0" dirty="0">
                <a:latin typeface="Calibri" pitchFamily="34" charset="0"/>
                <a:cs typeface="Calibri" pitchFamily="34" charset="0"/>
              </a:rPr>
              <a:t> 	       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Ejemplos:</a:t>
            </a:r>
            <a:endParaRPr lang="en-U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n-US" sz="2800" dirty="0">
                <a:solidFill>
                  <a:srgbClr val="000099"/>
                </a:solidFill>
              </a:rPr>
              <a:t>		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INSPECT  TEXTO  TALLYING  CONTA FOR ALL 'A'.</a:t>
            </a:r>
            <a:endParaRPr lang="es-ES_tradnl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_tradnl" sz="2800" b="0" dirty="0">
                <a:solidFill>
                  <a:schemeClr val="hlink"/>
                </a:solidFill>
                <a:cs typeface="Times New Roman" pitchFamily="18" charset="0"/>
              </a:rPr>
              <a:t>		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INSPECT IMPORTE REPLACING FIRST ZERO BY “$”.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</a:t>
            </a:r>
            <a:endParaRPr lang="es-ES_tradnl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  <a:endParaRPr lang="es-ES" sz="2500" b="0" i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506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Sentencias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IF/ELSE</a:t>
            </a:r>
          </a:p>
        </p:txBody>
      </p:sp>
      <p:sp>
        <p:nvSpPr>
          <p:cNvPr id="8" name="7 Rectángulo redondeado"/>
          <p:cNvSpPr/>
          <p:nvPr/>
        </p:nvSpPr>
        <p:spPr bwMode="auto">
          <a:xfrm>
            <a:off x="413321" y="1332037"/>
            <a:ext cx="8859658" cy="53285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413321" y="1332037"/>
            <a:ext cx="9112273" cy="5581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7. IF / ELSE 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P</a:t>
            </a:r>
            <a:r>
              <a:rPr lang="es-ES" sz="2500" b="0" dirty="0" err="1">
                <a:latin typeface="Calibri" pitchFamily="34" charset="0"/>
                <a:cs typeface="Calibri" pitchFamily="34" charset="0"/>
              </a:rPr>
              <a:t>ermite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cambiar el flujo del programa, dependiendo de una condición.</a:t>
            </a:r>
          </a:p>
          <a:p>
            <a:pPr lvl="1">
              <a:defRPr/>
            </a:pP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	      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Sintaxis:</a:t>
            </a:r>
          </a:p>
          <a:p>
            <a:pPr lvl="1">
              <a:defRPr/>
            </a:pP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		        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IF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condición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     		Conjunto de sentencias si la condición es verdadera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            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ELSE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      		Conjunto de sentencias si la condición es falsa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            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END-IF</a:t>
            </a:r>
          </a:p>
          <a:p>
            <a:pPr lvl="1">
              <a:defRPr/>
            </a:pP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" sz="22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CONDICIONES DE SIGNO</a:t>
            </a: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	IS POSITIVE		+</a:t>
            </a:r>
          </a:p>
          <a:p>
            <a:pPr lvl="1">
              <a:defRPr/>
            </a:pP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				IS NEGATIVE	-</a:t>
            </a:r>
          </a:p>
          <a:p>
            <a:pPr lvl="1">
              <a:defRPr/>
            </a:pP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</a:p>
          <a:p>
            <a:pPr lvl="1">
              <a:defRPr/>
            </a:pP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" sz="22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CONDICIONES DE CLASE</a:t>
            </a: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	IS NUMERIC</a:t>
            </a:r>
          </a:p>
          <a:p>
            <a:pPr lvl="1">
              <a:defRPr/>
            </a:pP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				IS ALPHABETIC</a:t>
            </a:r>
          </a:p>
          <a:p>
            <a:pPr lvl="1">
              <a:defRPr/>
            </a:pP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</a:p>
          <a:p>
            <a:pPr lvl="1">
              <a:defRPr/>
            </a:pP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" sz="22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CONDICIONES COMBINADAS</a:t>
            </a: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	AND	</a:t>
            </a:r>
          </a:p>
          <a:p>
            <a:pPr lvl="1">
              <a:defRPr/>
            </a:pP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				OR</a:t>
            </a:r>
          </a:p>
          <a:p>
            <a:pPr lvl="1">
              <a:defRPr/>
            </a:pP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				NOT</a:t>
            </a:r>
          </a:p>
          <a:p>
            <a:pPr lvl="1">
              <a:defRPr/>
            </a:pP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</a:p>
          <a:p>
            <a:pPr lvl="1">
              <a:defRPr/>
            </a:pP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" sz="22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CONDICIONES RELACIONES</a:t>
            </a:r>
            <a:r>
              <a:rPr lang="es-ES" sz="2200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  <a:r>
              <a:rPr lang="en-GB" sz="22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LESS THAN		&lt;</a:t>
            </a:r>
            <a:endParaRPr lang="es-ES" sz="22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lvl="3" algn="just">
              <a:lnSpc>
                <a:spcPts val="2400"/>
              </a:lnSpc>
            </a:pPr>
            <a:r>
              <a:rPr lang="en-GB" sz="22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			EQUAL TO		=</a:t>
            </a:r>
            <a:endParaRPr lang="es-ES" sz="22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lvl="3" algn="just">
              <a:lnSpc>
                <a:spcPts val="2400"/>
              </a:lnSpc>
            </a:pPr>
            <a:r>
              <a:rPr lang="en-GB" sz="22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			GREATER THAN	&gt;</a:t>
            </a:r>
            <a:endParaRPr lang="es-ES" sz="22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endParaRPr lang="es-ES" sz="25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585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Sentencias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EVALUATE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785232" cy="460851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06058" y="1963847"/>
            <a:ext cx="8638541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8. EVALUATE 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Evalúa los posibles valores de una variable </a:t>
            </a:r>
          </a:p>
          <a:p>
            <a:pPr lvl="1">
              <a:defRPr/>
            </a:pPr>
            <a:r>
              <a:rPr lang="es-ES" sz="2500" b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" sz="2500" b="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            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Sintaxis:</a:t>
            </a:r>
          </a:p>
          <a:p>
            <a:pPr lvl="4" algn="just">
              <a:lnSpc>
                <a:spcPts val="3000"/>
              </a:lnSpc>
              <a:buFontTx/>
              <a:buNone/>
            </a:pPr>
            <a:r>
              <a:rPr lang="es-ES" baseline="0" dirty="0">
                <a:solidFill>
                  <a:srgbClr val="C00000"/>
                </a:solidFill>
                <a:cs typeface="Tahoma" pitchFamily="34" charset="0"/>
              </a:rPr>
              <a:t>     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EVALUATE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variable_1 /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TRUE</a:t>
            </a:r>
          </a:p>
          <a:p>
            <a:pPr lvl="4" algn="just">
              <a:buFontTx/>
              <a:buNone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WHEN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valor_1</a:t>
            </a:r>
          </a:p>
          <a:p>
            <a:pPr lvl="4" algn="just">
              <a:buFontTx/>
              <a:buNone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                    	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sentencia_1</a:t>
            </a:r>
          </a:p>
          <a:p>
            <a:pPr lvl="4" algn="just">
              <a:buFontTx/>
              <a:buNone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WHEN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 valor_2</a:t>
            </a:r>
          </a:p>
          <a:p>
            <a:pPr lvl="4" algn="just"/>
            <a:r>
              <a:rPr lang="es-ES" sz="2500" b="0" dirty="0">
                <a:latin typeface="Calibri" pitchFamily="34" charset="0"/>
                <a:cs typeface="Calibri" pitchFamily="34" charset="0"/>
              </a:rPr>
              <a:t>                    	sentencia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_2</a:t>
            </a:r>
          </a:p>
          <a:p>
            <a:pPr lvl="4" algn="just">
              <a:buFontTx/>
              <a:buNone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WHEN  OTHER</a:t>
            </a:r>
          </a:p>
          <a:p>
            <a:pPr lvl="4" algn="just">
              <a:buFontTx/>
              <a:buNone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                  		sentencia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_3</a:t>
            </a:r>
          </a:p>
          <a:p>
            <a:pPr lvl="4" algn="just">
              <a:buFontTx/>
              <a:buNone/>
            </a:pPr>
            <a:r>
              <a:rPr lang="en-GB" sz="2500" b="0" dirty="0">
                <a:latin typeface="Calibri" pitchFamily="34" charset="0"/>
                <a:cs typeface="Calibri" pitchFamily="34" charset="0"/>
              </a:rPr>
              <a:t>          </a:t>
            </a:r>
            <a:r>
              <a:rPr lang="en-GB" sz="2500" dirty="0">
                <a:latin typeface="Calibri" pitchFamily="34" charset="0"/>
                <a:cs typeface="Calibri" pitchFamily="34" charset="0"/>
              </a:rPr>
              <a:t>END-EVALUATE</a:t>
            </a:r>
            <a:endParaRPr lang="es-ES_tradnl" sz="250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endParaRPr lang="es-ES" sz="25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330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Sentencias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PERFORM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3285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06058" y="1404045"/>
            <a:ext cx="8638541" cy="6376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9. PERFORM 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Invocar a un conjunto de secuencias</a:t>
            </a:r>
            <a:r>
              <a:rPr lang="es-ES_tradnl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localizadas a continuación de un 			nombre de párrafo </a:t>
            </a:r>
          </a:p>
          <a:p>
            <a:pPr lvl="1"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</a:rPr>
              <a:t>		Siempre termina en punto</a:t>
            </a:r>
          </a:p>
          <a:p>
            <a:pPr lvl="1">
              <a:defRPr/>
            </a:pPr>
            <a:r>
              <a:rPr lang="es-ES" sz="2500" b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" sz="2500" b="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            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Sintaxis:</a:t>
            </a:r>
          </a:p>
          <a:p>
            <a:pPr lvl="4" algn="just">
              <a:lnSpc>
                <a:spcPts val="3000"/>
              </a:lnSpc>
              <a:buFontTx/>
              <a:buNone/>
            </a:pPr>
            <a:r>
              <a:rPr lang="es-ES" baseline="0" dirty="0">
                <a:solidFill>
                  <a:srgbClr val="C00000"/>
                </a:solidFill>
                <a:cs typeface="Tahoma" pitchFamily="34" charset="0"/>
              </a:rPr>
              <a:t>     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a)</a:t>
            </a:r>
            <a:r>
              <a:rPr lang="es-ES" baseline="0" dirty="0">
                <a:cs typeface="Tahoma" pitchFamily="34" charset="0"/>
              </a:rPr>
              <a:t>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PERFORM 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nombre_párrafo</a:t>
            </a: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lvl="4" algn="just">
              <a:lnSpc>
                <a:spcPts val="3000"/>
              </a:lnSpc>
            </a:pPr>
            <a:r>
              <a:rPr lang="es-ES" sz="2500" baseline="0" dirty="0">
                <a:latin typeface="Calibri" pitchFamily="34" charset="0"/>
                <a:cs typeface="Calibri" pitchFamily="34" charset="0"/>
              </a:rPr>
              <a:t>      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b) PERFORM 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nombre_párrafo</a:t>
            </a: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lvl="4" algn="just">
              <a:lnSpc>
                <a:spcPts val="3000"/>
              </a:lnSpc>
            </a:pPr>
            <a:r>
              <a:rPr lang="es-ES" sz="2500" dirty="0">
                <a:latin typeface="Calibri" pitchFamily="34" charset="0"/>
                <a:cs typeface="Calibri" pitchFamily="34" charset="0"/>
              </a:rPr>
              <a:t>                      THRU</a:t>
            </a:r>
            <a:r>
              <a:rPr lang="es-ES" sz="250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nombre_párrafo</a:t>
            </a:r>
            <a:r>
              <a:rPr lang="es-ES" sz="2500" i="1" dirty="0">
                <a:latin typeface="Calibri" pitchFamily="34" charset="0"/>
                <a:cs typeface="Calibri" pitchFamily="34" charset="0"/>
              </a:rPr>
              <a:t>-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EXIT</a:t>
            </a:r>
          </a:p>
          <a:p>
            <a:pPr lvl="4" algn="just">
              <a:lnSpc>
                <a:spcPts val="3000"/>
              </a:lnSpc>
            </a:pPr>
            <a:r>
              <a:rPr lang="es-ES" sz="2500" dirty="0">
                <a:latin typeface="Calibri" pitchFamily="34" charset="0"/>
                <a:cs typeface="Calibri" pitchFamily="34" charset="0"/>
              </a:rPr>
              <a:t>       	</a:t>
            </a:r>
            <a:r>
              <a:rPr lang="es-ES" sz="2500" baseline="0" dirty="0">
                <a:latin typeface="Calibri" pitchFamily="34" charset="0"/>
                <a:cs typeface="Calibri" pitchFamily="34" charset="0"/>
              </a:rPr>
              <a:t>          </a:t>
            </a:r>
            <a:endParaRPr lang="es-ES" sz="2500" dirty="0">
              <a:latin typeface="Calibri" pitchFamily="34" charset="0"/>
              <a:cs typeface="Calibri" pitchFamily="34" charset="0"/>
            </a:endParaRPr>
          </a:p>
          <a:p>
            <a:pPr lvl="4" algn="just">
              <a:lnSpc>
                <a:spcPts val="3000"/>
              </a:lnSpc>
            </a:pPr>
            <a:r>
              <a:rPr lang="es-ES" sz="2500" baseline="0" dirty="0">
                <a:latin typeface="Calibri" pitchFamily="34" charset="0"/>
                <a:cs typeface="Calibri" pitchFamily="34" charset="0"/>
              </a:rPr>
              <a:t>      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c) PERFORM 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nombre_párrafo</a:t>
            </a: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lvl="4" algn="just">
              <a:lnSpc>
                <a:spcPts val="3000"/>
              </a:lnSpc>
            </a:pPr>
            <a:r>
              <a:rPr lang="es-ES" sz="2500" b="0" i="1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b="0" i="1" baseline="0" dirty="0">
                <a:latin typeface="Calibri" pitchFamily="34" charset="0"/>
                <a:cs typeface="Calibri" pitchFamily="34" charset="0"/>
              </a:rPr>
              <a:t> 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UNTIL</a:t>
            </a:r>
            <a:r>
              <a:rPr lang="es-ES" sz="2500" b="0" i="1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condición</a:t>
            </a:r>
          </a:p>
          <a:p>
            <a:pPr lvl="4" algn="just">
              <a:lnSpc>
                <a:spcPts val="3000"/>
              </a:lnSpc>
            </a:pPr>
            <a:r>
              <a:rPr lang="es-ES" sz="2500" baseline="0" dirty="0">
                <a:latin typeface="Calibri" pitchFamily="34" charset="0"/>
                <a:cs typeface="Calibri" pitchFamily="34" charset="0"/>
              </a:rPr>
              <a:t>      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d) PERFORM 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nombre_párrafo</a:t>
            </a: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lvl="4" algn="just">
              <a:lnSpc>
                <a:spcPts val="3000"/>
              </a:lnSpc>
            </a:pPr>
            <a:r>
              <a:rPr lang="es-ES" sz="2500" b="0" i="1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b="0" i="1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THRU</a:t>
            </a:r>
            <a:r>
              <a:rPr lang="es-ES" sz="250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nombre_párrafo</a:t>
            </a:r>
            <a:r>
              <a:rPr lang="es-ES" sz="2500" i="1" dirty="0">
                <a:latin typeface="Calibri" pitchFamily="34" charset="0"/>
                <a:cs typeface="Calibri" pitchFamily="34" charset="0"/>
              </a:rPr>
              <a:t>-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EXIT</a:t>
            </a:r>
          </a:p>
          <a:p>
            <a:pPr lvl="4" algn="just">
              <a:lnSpc>
                <a:spcPts val="3000"/>
              </a:lnSpc>
            </a:pPr>
            <a:r>
              <a:rPr lang="es-ES" sz="2500" dirty="0">
                <a:latin typeface="Calibri" pitchFamily="34" charset="0"/>
                <a:cs typeface="Calibri" pitchFamily="34" charset="0"/>
              </a:rPr>
              <a:t>	UNTIL</a:t>
            </a:r>
            <a:r>
              <a:rPr lang="es-ES" sz="2500" b="0" i="1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condición</a:t>
            </a:r>
          </a:p>
          <a:p>
            <a:pPr lvl="4" algn="just">
              <a:lnSpc>
                <a:spcPts val="3000"/>
              </a:lnSpc>
            </a:pPr>
            <a:endParaRPr lang="es-ES" sz="2500" dirty="0">
              <a:latin typeface="Calibri" pitchFamily="34" charset="0"/>
              <a:cs typeface="Calibri" pitchFamily="34" charset="0"/>
            </a:endParaRPr>
          </a:p>
          <a:p>
            <a:pPr lvl="4" algn="just">
              <a:lnSpc>
                <a:spcPts val="3000"/>
              </a:lnSpc>
            </a:pPr>
            <a:r>
              <a:rPr lang="es-ES" sz="2500" dirty="0">
                <a:latin typeface="Calibri" pitchFamily="34" charset="0"/>
                <a:cs typeface="Calibri" pitchFamily="34" charset="0"/>
              </a:rPr>
              <a:t>       	</a:t>
            </a:r>
            <a:r>
              <a:rPr lang="es-ES" sz="2500" baseline="0" dirty="0">
                <a:latin typeface="Calibri" pitchFamily="34" charset="0"/>
                <a:cs typeface="Calibri" pitchFamily="34" charset="0"/>
              </a:rPr>
              <a:t>         </a:t>
            </a:r>
            <a:endParaRPr lang="es-ES" sz="2500" dirty="0">
              <a:latin typeface="Calibri" pitchFamily="34" charset="0"/>
              <a:cs typeface="Calibri" pitchFamily="34" charset="0"/>
            </a:endParaRPr>
          </a:p>
          <a:p>
            <a:pPr lvl="4" algn="just">
              <a:lnSpc>
                <a:spcPts val="3000"/>
              </a:lnSpc>
            </a:pP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lvl="4" algn="just">
              <a:lnSpc>
                <a:spcPts val="3000"/>
              </a:lnSpc>
              <a:buFontTx/>
              <a:buNone/>
            </a:pPr>
            <a:endParaRPr lang="es-ES" sz="2500" b="0" i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1 Abrir llave"/>
          <p:cNvSpPr/>
          <p:nvPr/>
        </p:nvSpPr>
        <p:spPr bwMode="auto">
          <a:xfrm>
            <a:off x="2357537" y="2844205"/>
            <a:ext cx="72008" cy="1440160"/>
          </a:xfrm>
          <a:prstGeom prst="lef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4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13 Abrir llave"/>
          <p:cNvSpPr/>
          <p:nvPr/>
        </p:nvSpPr>
        <p:spPr bwMode="auto">
          <a:xfrm>
            <a:off x="2373759" y="4470381"/>
            <a:ext cx="55786" cy="1902215"/>
          </a:xfrm>
          <a:prstGeom prst="lef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400" b="1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32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Sentencias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Operaciones aritméticas: ADD, SUBSTRACT,MULTIPLY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40060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06058" y="1139401"/>
            <a:ext cx="9036255" cy="577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10. OPERACIONES ARITMÉTICAS</a:t>
            </a:r>
          </a:p>
          <a:p>
            <a:pPr lvl="1">
              <a:defRPr/>
            </a:pPr>
            <a:r>
              <a:rPr lang="es-ES_tradnl" sz="3000" b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ADD	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Sumar</a:t>
            </a:r>
            <a:r>
              <a:rPr lang="es-ES_tradnl" sz="2500" b="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un campo a otro</a:t>
            </a:r>
          </a:p>
          <a:p>
            <a:pPr lvl="1"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	</a:t>
            </a: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ADD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campo_1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</a:t>
            </a: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TO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campo_2</a:t>
            </a:r>
          </a:p>
          <a:p>
            <a:pPr lvl="1">
              <a:defRPr/>
            </a:pPr>
            <a:endParaRPr lang="es-ES_tradnl" sz="25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800" dirty="0">
                <a:sym typeface="Wingdings" pitchFamily="2" charset="2"/>
              </a:rPr>
              <a:t>		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campo_1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-&gt;  seguirá teniendo el valor inicial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campo_2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-&gt;  contendrá la suma de ambos campos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En el caso de no querer perder el valor del campo_2 y guardar el resultado 		en otra variable, usaremos la cláusula 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GIVING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ADD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campo_1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TO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campo_2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               	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GIVING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campo_3</a:t>
            </a:r>
          </a:p>
          <a:p>
            <a:pPr lvl="1"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</a:t>
            </a:r>
          </a:p>
          <a:p>
            <a:pPr lvl="1">
              <a:defRPr/>
            </a:pP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</a:p>
          <a:p>
            <a:pPr lvl="1">
              <a:defRPr/>
            </a:pPr>
            <a:r>
              <a:rPr lang="es-ES_tradnl" sz="2500">
                <a:latin typeface="Calibri" pitchFamily="34" charset="0"/>
                <a:cs typeface="Calibri" pitchFamily="34" charset="0"/>
                <a:sym typeface="Wingdings" pitchFamily="2" charset="2"/>
              </a:rPr>
              <a:t>	SUBTRACT 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Restar un campo a otro. También se puede utilizar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GIVING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SUBTRACT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campo_1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FROM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campo_2</a:t>
            </a: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_tradnl" sz="3000" b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</a:p>
          <a:p>
            <a:pPr lvl="1">
              <a:defRPr/>
            </a:pP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</a:p>
          <a:p>
            <a:pPr lvl="1">
              <a:defRPr/>
            </a:pP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	MULTIPY	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Multiplicar dos campos. También se puede utilizar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GIVING</a:t>
            </a:r>
            <a:endParaRPr lang="es-ES_tradnl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	</a:t>
            </a: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MULTIPLY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campo_1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</a:t>
            </a: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BY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campo_2</a:t>
            </a:r>
          </a:p>
          <a:p>
            <a:pPr lvl="1">
              <a:defRPr/>
            </a:pPr>
            <a:endParaRPr lang="es-ES_tradnl" sz="25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800" dirty="0">
                <a:sym typeface="Wingdings" pitchFamily="2" charset="2"/>
              </a:rPr>
              <a:t>	</a:t>
            </a:r>
            <a:endParaRPr lang="es-ES" sz="2500" b="0" i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1390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Sentencias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Operaciones aritméticas: DIVIDE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44803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06058" y="1404045"/>
            <a:ext cx="8638541" cy="5304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10. OPERACIONES ARITMÉTICAS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DIVIDE 	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Dividir dos campos 	</a:t>
            </a:r>
          </a:p>
          <a:p>
            <a:pPr lvl="1"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DIVIDE INTO</a:t>
            </a:r>
          </a:p>
          <a:p>
            <a:pPr lvl="1">
              <a:defRPr/>
            </a:pP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Se divide el valor del campo_2 entre el valor del campo_1</a:t>
            </a:r>
          </a:p>
          <a:p>
            <a:pPr lvl="1">
              <a:defRPr/>
            </a:pP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	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DIVIDE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campo_1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INTO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campo_2</a:t>
            </a:r>
          </a:p>
          <a:p>
            <a:pPr lvl="1">
              <a:defRPr/>
            </a:pP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</a:p>
          <a:p>
            <a:pPr lvl="1">
              <a:defRPr/>
            </a:pP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		campo_1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-&gt;  seguirá teniendo el valor inicial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campo_2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-&gt;  contendrá el resultado de dividir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campo_2 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entre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campo_1</a:t>
            </a:r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</a:p>
          <a:p>
            <a:pPr lvl="1">
              <a:defRPr/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DIVIDE BY</a:t>
            </a:r>
          </a:p>
          <a:p>
            <a:pPr lvl="1"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Se divide el valor del campo_1 entre el valor del campo_2.</a:t>
            </a:r>
          </a:p>
          <a:p>
            <a:pPr lvl="1"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La cláusula 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GIVING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es obligatoria</a:t>
            </a:r>
          </a:p>
          <a:p>
            <a:pPr lvl="1">
              <a:defRPr/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		DIVIDE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campo_1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BY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campo_2</a:t>
            </a:r>
          </a:p>
          <a:p>
            <a:pPr lvl="1">
              <a:defRPr/>
            </a:pPr>
            <a:r>
              <a:rPr lang="es-ES" sz="2500" b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	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GIVING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campo_3</a:t>
            </a:r>
          </a:p>
          <a:p>
            <a:pPr lvl="1">
              <a:defRPr/>
            </a:pPr>
            <a:r>
              <a:rPr lang="es-ES" sz="2500" b="0" i="1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	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REMAINDER</a:t>
            </a:r>
            <a:r>
              <a:rPr lang="es-ES" sz="2800" dirty="0">
                <a:sym typeface="Wingdings" pitchFamily="2" charset="2"/>
              </a:rPr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campo_4</a:t>
            </a:r>
          </a:p>
          <a:p>
            <a:pPr lvl="1">
              <a:defRPr/>
            </a:pP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</a:p>
          <a:p>
            <a:pPr lvl="1">
              <a:defRPr/>
            </a:pP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		campo_1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-&gt;  seguirá teniendo el valor inicial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campo_2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-&gt;  seguirá teniendo el valor inicial 	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				campo_3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-&gt;  contendrá el resultado de dividir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campo_1 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entre 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campo_2</a:t>
            </a:r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campo_4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-&gt;  contendrá el resto de la división</a:t>
            </a:r>
            <a:endParaRPr lang="es-ES" sz="2500" b="0" i="1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333192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Sentencias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Operaciones aritméticas: COMPUTE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3285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06058" y="1404045"/>
            <a:ext cx="8638541" cy="4857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10. OPERACIONES ARITMÉTICAS</a:t>
            </a:r>
          </a:p>
          <a:p>
            <a:pPr lvl="1">
              <a:defRPr/>
            </a:pPr>
            <a:endParaRPr lang="es-ES_tradnl" sz="3000" dirty="0">
              <a:solidFill>
                <a:srgbClr val="9AAE04"/>
              </a:solidFill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_tradnl" sz="3000" b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_tradnl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COMPUTE</a:t>
            </a:r>
            <a:r>
              <a:rPr lang="es-ES_tradnl" sz="3000" b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Nos permite realizar más de una operación a la vez</a:t>
            </a:r>
          </a:p>
          <a:p>
            <a:pPr lvl="1"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</a:p>
          <a:p>
            <a:pPr lvl="1"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COMPUTE</a:t>
            </a:r>
            <a:r>
              <a:rPr lang="es-ES" sz="2800" dirty="0"/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campo_1</a:t>
            </a:r>
            <a:r>
              <a:rPr lang="es-ES" sz="2800" dirty="0"/>
              <a:t> 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=</a:t>
            </a:r>
            <a:r>
              <a:rPr lang="es-ES" sz="2800" dirty="0"/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campo_2</a:t>
            </a:r>
            <a:r>
              <a:rPr lang="es-ES" sz="2800" dirty="0"/>
              <a:t> 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–</a:t>
            </a:r>
            <a:r>
              <a:rPr lang="es-ES" sz="2800" dirty="0"/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campo_3</a:t>
            </a:r>
            <a:r>
              <a:rPr lang="es-ES" sz="2800" dirty="0"/>
              <a:t> 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+</a:t>
            </a:r>
            <a:r>
              <a:rPr lang="es-ES" sz="2800" dirty="0"/>
              <a:t>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campo_4</a:t>
            </a:r>
            <a:r>
              <a:rPr lang="es-ES" sz="2800" dirty="0"/>
              <a:t> …</a:t>
            </a:r>
          </a:p>
          <a:p>
            <a:pPr lvl="1">
              <a:defRPr/>
            </a:pPr>
            <a:endParaRPr lang="es-ES_tradnl" sz="2500" b="0" i="1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800" dirty="0">
                <a:sym typeface="Wingdings" pitchFamily="2" charset="2"/>
              </a:rPr>
              <a:t>		</a:t>
            </a:r>
            <a:r>
              <a:rPr lang="es-ES" sz="2500" b="0" i="1" dirty="0">
                <a:latin typeface="Calibri" pitchFamily="34" charset="0"/>
                <a:cs typeface="Calibri" pitchFamily="34" charset="0"/>
                <a:sym typeface="Wingdings" pitchFamily="2" charset="2"/>
              </a:rPr>
              <a:t>campo_1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-&gt;  contendrá el resultado final</a:t>
            </a:r>
          </a:p>
          <a:p>
            <a:pPr lvl="1">
              <a:defRPr/>
            </a:pPr>
            <a:endParaRPr lang="es-ES" sz="2800" dirty="0"/>
          </a:p>
          <a:p>
            <a:pPr lvl="1">
              <a:defRPr/>
            </a:pPr>
            <a:r>
              <a:rPr lang="es-ES" sz="2800" dirty="0"/>
              <a:t>	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Símbolos aritméticos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+ 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Sumar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-      Restar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*     Multiplicar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/     Dividir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**  </a:t>
            </a:r>
            <a:r>
              <a:rPr lang="es-ES" sz="2500" b="0" dirty="0" err="1">
                <a:latin typeface="Calibri" pitchFamily="34" charset="0"/>
                <a:cs typeface="Calibri" pitchFamily="34" charset="0"/>
              </a:rPr>
              <a:t>Exponenciar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Usar paréntesis para prioridades de operaciones</a:t>
            </a:r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1647908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Introducción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 bwMode="auto">
          <a:xfrm>
            <a:off x="691470" y="1518830"/>
            <a:ext cx="8578835" cy="4709751"/>
          </a:xfrm>
          <a:prstGeom prst="roundRect">
            <a:avLst>
              <a:gd name="adj" fmla="val 5331"/>
            </a:avLst>
          </a:prstGeom>
          <a:solidFill>
            <a:schemeClr val="bg1"/>
          </a:solidFill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1. Introducción al lenguaje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2. Estructura de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3. Sentencias 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aseline="0" dirty="0">
                <a:solidFill>
                  <a:srgbClr val="9AAE04"/>
                </a:solidFill>
                <a:latin typeface="Calibri"/>
              </a:rPr>
              <a:t>4. Acceso a Ficheros de Datos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5. Compilando y Ejecutando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6. Definición y tratamiento de Tablas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7.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Matching</a:t>
            </a: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 de Ficheros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8. Programación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multimodular</a:t>
            </a: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40943326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Acceso a fichero de datos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OPEN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3285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06058" y="1404045"/>
            <a:ext cx="8638541" cy="5581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OPEN 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Apertura del fichero. Sentencia propia del párrafo inicio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Todos los ficheros declarados deben abrirse especificando el uso del fichero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Siempre se debe controlar el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FILE STATUS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Sintaxis: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 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OPEN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[modo]  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nombre</a:t>
            </a:r>
            <a:r>
              <a:rPr lang="es-ES" sz="2500" b="0" dirty="0" err="1">
                <a:latin typeface="Calibri" pitchFamily="34" charset="0"/>
                <a:cs typeface="Calibri" pitchFamily="34" charset="0"/>
              </a:rPr>
              <a:t>_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fichero_int</a:t>
            </a: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i="1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MODO DE APERTURA</a:t>
            </a:r>
          </a:p>
          <a:p>
            <a:pPr lvl="1">
              <a:defRPr/>
            </a:pP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INPUT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 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Modo lectura . Apertura de archivo de entrada</a:t>
            </a:r>
            <a:endParaRPr lang="es-ES" sz="25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0" indent="0" algn="just">
              <a:lnSpc>
                <a:spcPts val="2800"/>
              </a:lnSpc>
            </a:pPr>
            <a:r>
              <a:rPr lang="es-ES_tradnl" sz="2500" b="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	</a:t>
            </a: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OUTPUT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 Modo escritura. Apertura de archivo de salida. 		 	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I-O </a:t>
            </a:r>
            <a:r>
              <a:rPr lang="es-ES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 Se van a realizar operaciones de lectura y escritura.</a:t>
            </a:r>
          </a:p>
          <a:p>
            <a:pPr marL="0" indent="0" algn="just">
              <a:lnSpc>
                <a:spcPts val="2800"/>
              </a:lnSpc>
            </a:pPr>
            <a:r>
              <a:rPr lang="es-ES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	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EXTEND</a:t>
            </a:r>
            <a:r>
              <a:rPr lang="es-ES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	</a:t>
            </a:r>
            <a:r>
              <a:rPr lang="es-ES" sz="2500" b="0" baseline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Se va a escribir en el fichero pero se empezará a escribir a partir 			 del último registro.</a:t>
            </a:r>
          </a:p>
          <a:p>
            <a:pPr marL="0" indent="0" algn="just">
              <a:lnSpc>
                <a:spcPts val="2800"/>
              </a:lnSpc>
            </a:pPr>
            <a:r>
              <a:rPr lang="es-ES" dirty="0">
                <a:solidFill>
                  <a:srgbClr val="000000"/>
                </a:solidFill>
                <a:cs typeface="Times New Roman" pitchFamily="18" charset="0"/>
              </a:rPr>
              <a:t> </a:t>
            </a:r>
          </a:p>
          <a:p>
            <a:pPr marL="0" indent="0" algn="just">
              <a:lnSpc>
                <a:spcPts val="2800"/>
              </a:lnSpc>
            </a:pPr>
            <a:r>
              <a:rPr lang="es-ES" dirty="0">
                <a:solidFill>
                  <a:srgbClr val="000000"/>
                </a:solidFill>
                <a:cs typeface="Times New Roman" pitchFamily="18" charset="0"/>
              </a:rPr>
              <a:t>	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5080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Acceso a fichero de datos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READ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3285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21971" y="1115965"/>
            <a:ext cx="8638541" cy="565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READ 	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Lectura</a:t>
            </a:r>
            <a:r>
              <a:rPr lang="es-ES_tradnl" sz="30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del fichero. Sólo se leerá un registro cada vez</a:t>
            </a:r>
          </a:p>
          <a:p>
            <a:pPr lvl="1"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</a:p>
          <a:p>
            <a:pPr lvl="1">
              <a:defRPr/>
            </a:pPr>
            <a:r>
              <a:rPr lang="es-ES_tradnl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Siempre se debe controlar el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FILE STATUS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 </a:t>
            </a:r>
          </a:p>
          <a:p>
            <a:pPr marL="0" indent="0" algn="just">
              <a:lnSpc>
                <a:spcPts val="2800"/>
              </a:lnSpc>
            </a:pPr>
            <a:r>
              <a:rPr lang="es-ES" dirty="0">
                <a:solidFill>
                  <a:srgbClr val="FF0000"/>
                </a:solidFill>
                <a:cs typeface="Times New Roman" pitchFamily="18" charset="0"/>
              </a:rPr>
              <a:t>	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‘00’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	El proceso de lectura ha ido correctamente</a:t>
            </a:r>
          </a:p>
          <a:p>
            <a:pPr marL="0" indent="0" algn="just">
              <a:lnSpc>
                <a:spcPts val="2800"/>
              </a:lnSpc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‘10’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	El fichero se ha acabado</a:t>
            </a:r>
          </a:p>
          <a:p>
            <a:pPr marL="0" indent="0" algn="just">
              <a:lnSpc>
                <a:spcPts val="2800"/>
              </a:lnSpc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Es importante añadir un contador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de lectura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Sintaxis: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 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READ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nombre</a:t>
            </a:r>
            <a:r>
              <a:rPr lang="es-ES" sz="2500" b="0" dirty="0" err="1">
                <a:latin typeface="Calibri" pitchFamily="34" charset="0"/>
                <a:cs typeface="Calibri" pitchFamily="34" charset="0"/>
              </a:rPr>
              <a:t>_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fichero_int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INTO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 estructura</a:t>
            </a:r>
          </a:p>
          <a:p>
            <a:pPr lvl="1">
              <a:defRPr/>
            </a:pPr>
            <a:r>
              <a:rPr lang="es-ES" sz="2500" b="0" i="1" dirty="0">
                <a:latin typeface="Calibri" pitchFamily="34" charset="0"/>
                <a:cs typeface="Calibri" pitchFamily="34" charset="0"/>
              </a:rPr>
              <a:t>			</a:t>
            </a:r>
            <a:r>
              <a:rPr lang="es-ES" sz="2500" b="0" i="1" baseline="0" dirty="0">
                <a:latin typeface="Calibri" pitchFamily="34" charset="0"/>
                <a:cs typeface="Calibri" pitchFamily="34" charset="0"/>
              </a:rPr>
              <a:t>   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AT END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sentencia imperativa</a:t>
            </a:r>
          </a:p>
          <a:p>
            <a:pPr lvl="1">
              <a:defRPr/>
            </a:pPr>
            <a:r>
              <a:rPr lang="es-ES" sz="2500" baseline="0" dirty="0">
                <a:latin typeface="Calibri" pitchFamily="34" charset="0"/>
                <a:cs typeface="Calibri" pitchFamily="34" charset="0"/>
              </a:rPr>
              <a:t>	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END-READ</a:t>
            </a:r>
          </a:p>
          <a:p>
            <a:pPr lvl="1">
              <a:defRPr/>
            </a:pPr>
            <a:endParaRPr lang="es-ES" sz="2800" dirty="0">
              <a:sym typeface="Wingdings" pitchFamily="2" charset="2"/>
            </a:endParaRPr>
          </a:p>
          <a:p>
            <a:pPr lvl="1">
              <a:defRPr/>
            </a:pPr>
            <a:r>
              <a:rPr lang="es-ES" sz="2800" dirty="0">
                <a:sym typeface="Wingdings" pitchFamily="2" charset="2"/>
              </a:rPr>
              <a:t>	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Estructura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 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Espacio de </a:t>
            </a:r>
            <a:r>
              <a:rPr lang="es-ES" sz="2500" b="0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Working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que contiene los campos que queremos 				      leer en el fichero</a:t>
            </a:r>
          </a:p>
          <a:p>
            <a:pPr lvl="1">
              <a:defRPr/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		AT END</a:t>
            </a:r>
            <a:r>
              <a:rPr lang="es-ES" dirty="0">
                <a:solidFill>
                  <a:srgbClr val="9AAE04"/>
                </a:solidFill>
                <a:cs typeface="Times New Roman" pitchFamily="18" charset="0"/>
                <a:sym typeface="Wingdings" pitchFamily="2" charset="2"/>
              </a:rPr>
              <a:t>	</a:t>
            </a:r>
            <a:r>
              <a:rPr lang="es-ES" baseline="0" dirty="0">
                <a:solidFill>
                  <a:srgbClr val="9AAE04"/>
                </a:solidFill>
                <a:cs typeface="Times New Roman" pitchFamily="18" charset="0"/>
                <a:sym typeface="Wingdings" pitchFamily="2" charset="2"/>
              </a:rPr>
              <a:t>    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Detecta cuando se ha llegado al final del fichero			</a:t>
            </a:r>
            <a:r>
              <a:rPr lang="es-ES" baseline="0" dirty="0">
                <a:solidFill>
                  <a:srgbClr val="9AAE04"/>
                </a:solidFill>
                <a:cs typeface="Times New Roman" pitchFamily="18" charset="0"/>
                <a:sym typeface="Wingdings" pitchFamily="2" charset="2"/>
              </a:rPr>
              <a:t>   </a:t>
            </a:r>
            <a:r>
              <a:rPr lang="es-ES" dirty="0">
                <a:solidFill>
                  <a:srgbClr val="9AAE04"/>
                </a:solidFill>
                <a:cs typeface="Times New Roman" pitchFamily="18" charset="0"/>
                <a:sym typeface="Wingdings" pitchFamily="2" charset="2"/>
              </a:rPr>
              <a:t> </a:t>
            </a:r>
            <a:r>
              <a:rPr lang="es-ES" sz="2800" dirty="0">
                <a:sym typeface="Wingdings" pitchFamily="2" charset="2"/>
              </a:rPr>
              <a:t> </a:t>
            </a:r>
          </a:p>
          <a:p>
            <a:pPr lvl="1">
              <a:defRPr/>
            </a:pPr>
            <a:endParaRPr lang="es-ES" sz="25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1238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Acceso a fichero de datos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WRITE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9001000" cy="53285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06057" y="1646778"/>
            <a:ext cx="9180271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WRITE 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Escritura del fichero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 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Siempre se debe controlar el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FILE STATUS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Es importante añadir un contador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de escritura 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	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Sintaxis: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 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WRITE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nombre_registro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FROM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 identificador</a:t>
            </a:r>
          </a:p>
          <a:p>
            <a:pPr lvl="1">
              <a:defRPr/>
            </a:pP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i="1" dirty="0">
                <a:latin typeface="Calibri" pitchFamily="34" charset="0"/>
                <a:cs typeface="Calibri" pitchFamily="34" charset="0"/>
              </a:rPr>
              <a:t>	</a:t>
            </a:r>
          </a:p>
          <a:p>
            <a:pPr lvl="1">
              <a:defRPr/>
            </a:pP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" sz="2500" dirty="0" err="1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nombre_registro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 Definido en  la FD del fichero</a:t>
            </a:r>
            <a:endParaRPr lang="es-ES" sz="25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0" lvl="1" algn="just">
              <a:lnSpc>
                <a:spcPts val="2800"/>
              </a:lnSpc>
            </a:pPr>
            <a:r>
              <a:rPr lang="es-ES_tradnl" sz="2500" b="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	</a:t>
            </a:r>
            <a:r>
              <a:rPr lang="es-ES_tradnl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identificador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 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Espacio de </a:t>
            </a:r>
            <a:r>
              <a:rPr lang="es-ES" sz="2500" b="0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Working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que contiene los campos que queremos 				 escribir</a:t>
            </a:r>
            <a:r>
              <a:rPr lang="es-ES" sz="2500" b="0" baseline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en el fichero</a:t>
            </a:r>
          </a:p>
          <a:p>
            <a:pPr marL="0" indent="0" algn="just">
              <a:lnSpc>
                <a:spcPts val="2800"/>
              </a:lnSpc>
            </a:pPr>
            <a:r>
              <a:rPr lang="es-ES_tradnl" b="0" dirty="0">
                <a:solidFill>
                  <a:srgbClr val="000000"/>
                </a:solidFill>
                <a:cs typeface="Times New Roman" pitchFamily="18" charset="0"/>
              </a:rPr>
              <a:t>		 </a:t>
            </a:r>
            <a:r>
              <a:rPr lang="es-ES" dirty="0">
                <a:solidFill>
                  <a:srgbClr val="000000"/>
                </a:solidFill>
                <a:cs typeface="Times New Roman" pitchFamily="18" charset="0"/>
              </a:rPr>
              <a:t>	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0009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Acceso a fichero de datos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CLOSE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3285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485329" y="2340149"/>
            <a:ext cx="863854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CLOSE 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Cierre del fichero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Siempre se debe controlar el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FILE STATUS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.  		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Sintaxis: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 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CLOSE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nombre</a:t>
            </a:r>
            <a:r>
              <a:rPr lang="es-ES" sz="2500" b="0" dirty="0" err="1">
                <a:latin typeface="Calibri" pitchFamily="34" charset="0"/>
                <a:cs typeface="Calibri" pitchFamily="34" charset="0"/>
              </a:rPr>
              <a:t>_</a:t>
            </a:r>
            <a:r>
              <a:rPr lang="es-ES" sz="2500" b="0" i="1" dirty="0" err="1">
                <a:latin typeface="Calibri" pitchFamily="34" charset="0"/>
                <a:cs typeface="Calibri" pitchFamily="34" charset="0"/>
              </a:rPr>
              <a:t>fichero_int</a:t>
            </a: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endParaRPr lang="es-ES" sz="2500" b="0" i="1" dirty="0">
              <a:latin typeface="Calibri" pitchFamily="34" charset="0"/>
              <a:cs typeface="Calibri" pitchFamily="34" charset="0"/>
            </a:endParaRPr>
          </a:p>
          <a:p>
            <a:pPr marL="0" indent="0" algn="just">
              <a:lnSpc>
                <a:spcPts val="2800"/>
              </a:lnSpc>
            </a:pPr>
            <a:r>
              <a:rPr lang="es-ES" dirty="0">
                <a:solidFill>
                  <a:srgbClr val="000000"/>
                </a:solidFill>
                <a:cs typeface="Times New Roman" pitchFamily="18" charset="0"/>
              </a:rPr>
              <a:t>	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0009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Introducción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 bwMode="auto">
          <a:xfrm>
            <a:off x="691470" y="1518830"/>
            <a:ext cx="8578835" cy="4853767"/>
          </a:xfrm>
          <a:prstGeom prst="roundRect">
            <a:avLst>
              <a:gd name="adj" fmla="val 5331"/>
            </a:avLst>
          </a:prstGeom>
          <a:solidFill>
            <a:schemeClr val="bg1"/>
          </a:solidFill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1. Introducción al lenguaje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2. Estructura de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3. Sentencias 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4. Acceso a Ficheros de Datos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aseline="0" dirty="0">
                <a:solidFill>
                  <a:srgbClr val="9AAE04"/>
                </a:solidFill>
                <a:latin typeface="Calibri"/>
              </a:rPr>
              <a:t>5. Compilando y Ejecutando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6. Definición y tratamiento de Tablas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7.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Matching</a:t>
            </a: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 de Ficheros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8. Programación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multimodular</a:t>
            </a:r>
            <a:endParaRPr lang="es-ES" sz="2500" b="0" baseline="0" dirty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5277669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Compilando y ejecutando un programa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PASOS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3285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594550" y="1980203"/>
            <a:ext cx="8638541" cy="3888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1. Escribir, cumpliendo la sintaxis del lenguaje, el programa :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programa fuente</a:t>
            </a:r>
          </a:p>
          <a:p>
            <a:pPr marL="914400" lvl="1" indent="-457200">
              <a:buAutoNum type="arabicPeriod"/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2. Compilar :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programa objeto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3. Enlazar :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programa ejecutable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marL="914400" lvl="1" indent="-457200">
              <a:buAutoNum type="arabicPeriod"/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4. Ejecutar  el programa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5. Análisis de los resultados </a:t>
            </a:r>
          </a:p>
          <a:p>
            <a:pPr marL="914400" lvl="1" indent="-457200">
              <a:buAutoNum type="arabicPeriod"/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6. Si fuera necesario, corregir el programa y volver al paso 1 </a:t>
            </a:r>
          </a:p>
          <a:p>
            <a:pPr marL="0" indent="0" algn="just">
              <a:lnSpc>
                <a:spcPts val="2800"/>
              </a:lnSpc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 </a:t>
            </a:r>
          </a:p>
          <a:p>
            <a:pPr marL="0" indent="0" algn="just">
              <a:lnSpc>
                <a:spcPts val="2800"/>
              </a:lnSpc>
            </a:pPr>
            <a:r>
              <a:rPr lang="es-ES" dirty="0">
                <a:solidFill>
                  <a:srgbClr val="000000"/>
                </a:solidFill>
                <a:cs typeface="Times New Roman" pitchFamily="18" charset="0"/>
              </a:rPr>
              <a:t>	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0283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Introducción 	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620069"/>
            <a:ext cx="8640960" cy="432048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480967" y="475036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Práctica</a:t>
            </a:r>
            <a:r>
              <a:rPr lang="es-ES" sz="3600" baseline="0" dirty="0"/>
              <a:t> </a:t>
            </a:r>
            <a:r>
              <a:rPr lang="es-ES" sz="3600" dirty="0"/>
              <a:t>2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056571" y="2628181"/>
            <a:ext cx="7565662" cy="7200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Font typeface="Wingdings" pitchFamily="2" charset="2"/>
              <a:buChar char="–"/>
              <a:defRPr sz="2100">
                <a:solidFill>
                  <a:schemeClr val="bg2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Font typeface="Wingdings" pitchFamily="2" charset="2"/>
              <a:buChar char="•"/>
              <a:defRPr sz="2100">
                <a:solidFill>
                  <a:schemeClr val="bg2"/>
                </a:solidFill>
                <a:latin typeface="+mn-lt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•"/>
              <a:defRPr sz="2100">
                <a:solidFill>
                  <a:schemeClr val="bg2"/>
                </a:solidFill>
                <a:latin typeface="+mn-lt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5pPr>
            <a:lvl6pPr marL="25146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6pPr>
            <a:lvl7pPr marL="29718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7pPr>
            <a:lvl8pPr marL="34290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8pPr>
            <a:lvl9pPr marL="38862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9pPr>
          </a:lstStyle>
          <a:p>
            <a:pPr marL="914400" lvl="2" indent="0">
              <a:buNone/>
            </a:pPr>
            <a:r>
              <a:rPr lang="es-ES" sz="4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PRÁCTICA 2 – Ficheros y formateo de salida</a:t>
            </a:r>
            <a:endParaRPr lang="es-ES" sz="4000" b="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2969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Introducción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 bwMode="auto">
          <a:xfrm>
            <a:off x="691470" y="1518830"/>
            <a:ext cx="8578835" cy="4781759"/>
          </a:xfrm>
          <a:prstGeom prst="roundRect">
            <a:avLst>
              <a:gd name="adj" fmla="val 5331"/>
            </a:avLst>
          </a:prstGeom>
          <a:solidFill>
            <a:schemeClr val="bg1"/>
          </a:solidFill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1. Introducción al lenguaje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2. Estructura de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3. Sentencias 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4. Acceso a Ficheros de Datos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5. Compilando y Ejecutando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aseline="0" dirty="0">
                <a:solidFill>
                  <a:srgbClr val="9AAE04"/>
                </a:solidFill>
                <a:latin typeface="Calibri"/>
              </a:rPr>
              <a:t>6. Definición y tratamiento de Tablas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7.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Matching</a:t>
            </a: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 de Ficheros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8. Programación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multimodular</a:t>
            </a:r>
            <a:endParaRPr lang="es-ES" sz="2500" b="0" baseline="0" dirty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509069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Definición y tratamiento de Tablas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486912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Tablas</a:t>
            </a:r>
            <a:r>
              <a:rPr lang="es-ES" sz="3600" baseline="0" dirty="0"/>
              <a:t> </a:t>
            </a:r>
            <a:r>
              <a:rPr lang="es-ES" sz="3600" dirty="0"/>
              <a:t>internas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204748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594550" y="1239035"/>
            <a:ext cx="8747763" cy="2272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En las tabla internas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es necesario definir: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1. Los datos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: 	Usaremos una estructura en la que cada registro sea un campo elemental.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Para poder acceder o referenciar los datos de un campo de una tabla siempre 		deberemos poner el índice entre paréntesis.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2. La estructura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: usaremos las cláusulas 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REDEFINES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, 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OCCURS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, 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INDEXED BY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</p:txBody>
      </p:sp>
      <p:grpSp>
        <p:nvGrpSpPr>
          <p:cNvPr id="104" name="Group 1026"/>
          <p:cNvGrpSpPr>
            <a:grpSpLocks/>
          </p:cNvGrpSpPr>
          <p:nvPr/>
        </p:nvGrpSpPr>
        <p:grpSpPr bwMode="auto">
          <a:xfrm>
            <a:off x="1447800" y="4481637"/>
            <a:ext cx="7391400" cy="381000"/>
            <a:chOff x="720" y="1488"/>
            <a:chExt cx="4656" cy="240"/>
          </a:xfrm>
          <a:solidFill>
            <a:schemeClr val="bg1">
              <a:lumMod val="75000"/>
            </a:schemeClr>
          </a:solidFill>
        </p:grpSpPr>
        <p:sp>
          <p:nvSpPr>
            <p:cNvPr id="105" name="Rectangle 1027"/>
            <p:cNvSpPr>
              <a:spLocks noChangeArrowheads="1"/>
            </p:cNvSpPr>
            <p:nvPr/>
          </p:nvSpPr>
          <p:spPr bwMode="auto">
            <a:xfrm>
              <a:off x="720" y="1488"/>
              <a:ext cx="4656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06" name="Rectangle 1028"/>
            <p:cNvSpPr>
              <a:spLocks noChangeArrowheads="1"/>
            </p:cNvSpPr>
            <p:nvPr/>
          </p:nvSpPr>
          <p:spPr bwMode="auto">
            <a:xfrm>
              <a:off x="1008" y="1488"/>
              <a:ext cx="4368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07" name="Rectangle 1029"/>
            <p:cNvSpPr>
              <a:spLocks noChangeArrowheads="1"/>
            </p:cNvSpPr>
            <p:nvPr/>
          </p:nvSpPr>
          <p:spPr bwMode="auto">
            <a:xfrm>
              <a:off x="1344" y="1488"/>
              <a:ext cx="4032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08" name="Rectangle 1030"/>
            <p:cNvSpPr>
              <a:spLocks noChangeArrowheads="1"/>
            </p:cNvSpPr>
            <p:nvPr/>
          </p:nvSpPr>
          <p:spPr bwMode="auto">
            <a:xfrm>
              <a:off x="1680" y="1488"/>
              <a:ext cx="3696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09" name="Rectangle 1031"/>
            <p:cNvSpPr>
              <a:spLocks noChangeArrowheads="1"/>
            </p:cNvSpPr>
            <p:nvPr/>
          </p:nvSpPr>
          <p:spPr bwMode="auto">
            <a:xfrm>
              <a:off x="2016" y="1488"/>
              <a:ext cx="336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10" name="Rectangle 1032"/>
            <p:cNvSpPr>
              <a:spLocks noChangeArrowheads="1"/>
            </p:cNvSpPr>
            <p:nvPr/>
          </p:nvSpPr>
          <p:spPr bwMode="auto">
            <a:xfrm>
              <a:off x="2352" y="1488"/>
              <a:ext cx="3024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11" name="Rectangle 1033"/>
            <p:cNvSpPr>
              <a:spLocks noChangeArrowheads="1"/>
            </p:cNvSpPr>
            <p:nvPr/>
          </p:nvSpPr>
          <p:spPr bwMode="auto">
            <a:xfrm>
              <a:off x="2688" y="1488"/>
              <a:ext cx="2688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12" name="Rectangle 1034"/>
            <p:cNvSpPr>
              <a:spLocks noChangeArrowheads="1"/>
            </p:cNvSpPr>
            <p:nvPr/>
          </p:nvSpPr>
          <p:spPr bwMode="auto">
            <a:xfrm>
              <a:off x="3024" y="1488"/>
              <a:ext cx="2352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13" name="Rectangle 1035"/>
            <p:cNvSpPr>
              <a:spLocks noChangeArrowheads="1"/>
            </p:cNvSpPr>
            <p:nvPr/>
          </p:nvSpPr>
          <p:spPr bwMode="auto">
            <a:xfrm>
              <a:off x="3360" y="1488"/>
              <a:ext cx="2016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14" name="Rectangle 1036"/>
            <p:cNvSpPr>
              <a:spLocks noChangeArrowheads="1"/>
            </p:cNvSpPr>
            <p:nvPr/>
          </p:nvSpPr>
          <p:spPr bwMode="auto">
            <a:xfrm>
              <a:off x="3696" y="1488"/>
              <a:ext cx="168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15" name="Rectangle 1037"/>
            <p:cNvSpPr>
              <a:spLocks noChangeArrowheads="1"/>
            </p:cNvSpPr>
            <p:nvPr/>
          </p:nvSpPr>
          <p:spPr bwMode="auto">
            <a:xfrm>
              <a:off x="4032" y="1488"/>
              <a:ext cx="1344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16" name="Rectangle 1038"/>
            <p:cNvSpPr>
              <a:spLocks noChangeArrowheads="1"/>
            </p:cNvSpPr>
            <p:nvPr/>
          </p:nvSpPr>
          <p:spPr bwMode="auto">
            <a:xfrm>
              <a:off x="4704" y="1488"/>
              <a:ext cx="672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17" name="Rectangle 1039"/>
            <p:cNvSpPr>
              <a:spLocks noChangeArrowheads="1"/>
            </p:cNvSpPr>
            <p:nvPr/>
          </p:nvSpPr>
          <p:spPr bwMode="auto">
            <a:xfrm>
              <a:off x="4368" y="1488"/>
              <a:ext cx="1008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18" name="Rectangle 1040"/>
            <p:cNvSpPr>
              <a:spLocks noChangeArrowheads="1"/>
            </p:cNvSpPr>
            <p:nvPr/>
          </p:nvSpPr>
          <p:spPr bwMode="auto">
            <a:xfrm>
              <a:off x="5040" y="1488"/>
              <a:ext cx="336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s-ES"/>
            </a:p>
          </p:txBody>
        </p:sp>
      </p:grpSp>
      <p:sp>
        <p:nvSpPr>
          <p:cNvPr id="119" name="Text Box 1041"/>
          <p:cNvSpPr txBox="1">
            <a:spLocks noChangeArrowheads="1"/>
          </p:cNvSpPr>
          <p:nvPr/>
        </p:nvSpPr>
        <p:spPr bwMode="auto">
          <a:xfrm>
            <a:off x="742540" y="3769446"/>
            <a:ext cx="1326966" cy="6155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endParaRPr lang="es-ES_tradnl" sz="2000" b="1" dirty="0">
              <a:latin typeface="Calibri" pitchFamily="34" charset="0"/>
              <a:cs typeface="Calibri" pitchFamily="34" charset="0"/>
            </a:endParaRPr>
          </a:p>
          <a:p>
            <a:pPr algn="ctr">
              <a:defRPr/>
            </a:pPr>
            <a:r>
              <a:rPr lang="es-ES_tradnl" sz="2000" b="1" dirty="0">
                <a:latin typeface="Calibri" pitchFamily="34" charset="0"/>
                <a:cs typeface="Calibri" pitchFamily="34" charset="0"/>
              </a:rPr>
              <a:t>Tabla de Datos</a:t>
            </a:r>
          </a:p>
          <a:p>
            <a:pPr>
              <a:defRPr/>
            </a:pPr>
            <a:endParaRPr lang="es-ES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0" name="Text Box 1042"/>
          <p:cNvSpPr txBox="1">
            <a:spLocks noChangeArrowheads="1"/>
          </p:cNvSpPr>
          <p:nvPr/>
        </p:nvSpPr>
        <p:spPr bwMode="auto">
          <a:xfrm>
            <a:off x="1654175" y="4811837"/>
            <a:ext cx="98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 dirty="0"/>
              <a:t>1</a:t>
            </a:r>
            <a:endParaRPr lang="es-ES" sz="1400" b="1" dirty="0"/>
          </a:p>
        </p:txBody>
      </p:sp>
      <p:sp>
        <p:nvSpPr>
          <p:cNvPr id="121" name="Text Box 1043"/>
          <p:cNvSpPr txBox="1">
            <a:spLocks noChangeArrowheads="1"/>
          </p:cNvSpPr>
          <p:nvPr/>
        </p:nvSpPr>
        <p:spPr bwMode="auto">
          <a:xfrm>
            <a:off x="2133600" y="4811837"/>
            <a:ext cx="98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/>
              <a:t>2</a:t>
            </a:r>
            <a:endParaRPr lang="es-ES" sz="1400" b="1"/>
          </a:p>
        </p:txBody>
      </p:sp>
      <p:sp>
        <p:nvSpPr>
          <p:cNvPr id="122" name="Text Box 1044"/>
          <p:cNvSpPr txBox="1">
            <a:spLocks noChangeArrowheads="1"/>
          </p:cNvSpPr>
          <p:nvPr/>
        </p:nvSpPr>
        <p:spPr bwMode="auto">
          <a:xfrm>
            <a:off x="2667000" y="4811837"/>
            <a:ext cx="98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/>
              <a:t>3</a:t>
            </a:r>
            <a:endParaRPr lang="es-ES" sz="1400" b="1"/>
          </a:p>
        </p:txBody>
      </p:sp>
      <p:sp>
        <p:nvSpPr>
          <p:cNvPr id="123" name="Text Box 1045"/>
          <p:cNvSpPr txBox="1">
            <a:spLocks noChangeArrowheads="1"/>
          </p:cNvSpPr>
          <p:nvPr/>
        </p:nvSpPr>
        <p:spPr bwMode="auto">
          <a:xfrm>
            <a:off x="3200400" y="4811837"/>
            <a:ext cx="98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/>
              <a:t>4</a:t>
            </a:r>
            <a:endParaRPr lang="es-ES" sz="1400" b="1"/>
          </a:p>
        </p:txBody>
      </p:sp>
      <p:sp>
        <p:nvSpPr>
          <p:cNvPr id="124" name="Text Box 1046"/>
          <p:cNvSpPr txBox="1">
            <a:spLocks noChangeArrowheads="1"/>
          </p:cNvSpPr>
          <p:nvPr/>
        </p:nvSpPr>
        <p:spPr bwMode="auto">
          <a:xfrm>
            <a:off x="3711575" y="4811837"/>
            <a:ext cx="98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/>
              <a:t>5</a:t>
            </a:r>
            <a:endParaRPr lang="es-ES" sz="1400" b="1"/>
          </a:p>
        </p:txBody>
      </p:sp>
      <p:sp>
        <p:nvSpPr>
          <p:cNvPr id="125" name="Text Box 1047"/>
          <p:cNvSpPr txBox="1">
            <a:spLocks noChangeArrowheads="1"/>
          </p:cNvSpPr>
          <p:nvPr/>
        </p:nvSpPr>
        <p:spPr bwMode="auto">
          <a:xfrm>
            <a:off x="4267200" y="4811837"/>
            <a:ext cx="98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/>
              <a:t>6</a:t>
            </a:r>
            <a:endParaRPr lang="es-ES" sz="1400" b="1"/>
          </a:p>
        </p:txBody>
      </p:sp>
      <p:sp>
        <p:nvSpPr>
          <p:cNvPr id="126" name="Text Box 1048"/>
          <p:cNvSpPr txBox="1">
            <a:spLocks noChangeArrowheads="1"/>
          </p:cNvSpPr>
          <p:nvPr/>
        </p:nvSpPr>
        <p:spPr bwMode="auto">
          <a:xfrm>
            <a:off x="4800600" y="4811837"/>
            <a:ext cx="98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/>
              <a:t>7</a:t>
            </a:r>
            <a:endParaRPr lang="es-ES" sz="1400" b="1"/>
          </a:p>
        </p:txBody>
      </p:sp>
      <p:sp>
        <p:nvSpPr>
          <p:cNvPr id="127" name="Text Box 1049"/>
          <p:cNvSpPr txBox="1">
            <a:spLocks noChangeArrowheads="1"/>
          </p:cNvSpPr>
          <p:nvPr/>
        </p:nvSpPr>
        <p:spPr bwMode="auto">
          <a:xfrm>
            <a:off x="5334000" y="4811837"/>
            <a:ext cx="98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/>
              <a:t>8</a:t>
            </a:r>
            <a:endParaRPr lang="es-ES" sz="1400" b="1"/>
          </a:p>
        </p:txBody>
      </p:sp>
      <p:sp>
        <p:nvSpPr>
          <p:cNvPr id="128" name="Text Box 1050"/>
          <p:cNvSpPr txBox="1">
            <a:spLocks noChangeArrowheads="1"/>
          </p:cNvSpPr>
          <p:nvPr/>
        </p:nvSpPr>
        <p:spPr bwMode="auto">
          <a:xfrm>
            <a:off x="5867400" y="4811837"/>
            <a:ext cx="984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/>
              <a:t>9</a:t>
            </a:r>
            <a:endParaRPr lang="es-ES" sz="1400" b="1"/>
          </a:p>
        </p:txBody>
      </p:sp>
      <p:sp>
        <p:nvSpPr>
          <p:cNvPr id="129" name="Text Box 1051"/>
          <p:cNvSpPr txBox="1">
            <a:spLocks noChangeArrowheads="1"/>
          </p:cNvSpPr>
          <p:nvPr/>
        </p:nvSpPr>
        <p:spPr bwMode="auto">
          <a:xfrm>
            <a:off x="6378575" y="4811837"/>
            <a:ext cx="1968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/>
              <a:t>10</a:t>
            </a:r>
            <a:endParaRPr lang="es-ES" sz="1400" b="1"/>
          </a:p>
        </p:txBody>
      </p:sp>
      <p:sp>
        <p:nvSpPr>
          <p:cNvPr id="130" name="Text Box 1052"/>
          <p:cNvSpPr txBox="1">
            <a:spLocks noChangeArrowheads="1"/>
          </p:cNvSpPr>
          <p:nvPr/>
        </p:nvSpPr>
        <p:spPr bwMode="auto">
          <a:xfrm>
            <a:off x="8512175" y="4811837"/>
            <a:ext cx="1079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/>
              <a:t>n</a:t>
            </a:r>
            <a:endParaRPr lang="es-ES" sz="1400" b="1"/>
          </a:p>
        </p:txBody>
      </p:sp>
      <p:sp>
        <p:nvSpPr>
          <p:cNvPr id="131" name="Text Box 1053"/>
          <p:cNvSpPr txBox="1">
            <a:spLocks noChangeArrowheads="1"/>
          </p:cNvSpPr>
          <p:nvPr/>
        </p:nvSpPr>
        <p:spPr bwMode="auto">
          <a:xfrm>
            <a:off x="6988175" y="4811837"/>
            <a:ext cx="1230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/>
              <a:t>.........................</a:t>
            </a:r>
            <a:endParaRPr lang="es-ES" sz="1400" b="1"/>
          </a:p>
        </p:txBody>
      </p:sp>
      <p:sp>
        <p:nvSpPr>
          <p:cNvPr id="132" name="Oval 1054"/>
          <p:cNvSpPr>
            <a:spLocks noChangeArrowheads="1"/>
          </p:cNvSpPr>
          <p:nvPr/>
        </p:nvSpPr>
        <p:spPr bwMode="auto">
          <a:xfrm>
            <a:off x="4648200" y="4557837"/>
            <a:ext cx="381000" cy="228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s-ES"/>
          </a:p>
        </p:txBody>
      </p:sp>
      <p:sp>
        <p:nvSpPr>
          <p:cNvPr id="134" name="Text Box 1056"/>
          <p:cNvSpPr txBox="1">
            <a:spLocks noChangeArrowheads="1"/>
          </p:cNvSpPr>
          <p:nvPr/>
        </p:nvSpPr>
        <p:spPr bwMode="auto">
          <a:xfrm>
            <a:off x="5410200" y="3872036"/>
            <a:ext cx="1562100" cy="4103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defRPr/>
            </a:pPr>
            <a:r>
              <a:rPr lang="es-ES_tradnl" sz="2000" b="1" dirty="0">
                <a:latin typeface="Calibri" pitchFamily="34" charset="0"/>
                <a:cs typeface="Calibri" pitchFamily="34" charset="0"/>
              </a:rPr>
              <a:t>Elemento de la Tabla</a:t>
            </a:r>
          </a:p>
          <a:p>
            <a:pPr algn="ctr">
              <a:defRPr/>
            </a:pPr>
            <a:endParaRPr lang="es-ES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5" name="Oval 1057"/>
          <p:cNvSpPr>
            <a:spLocks noChangeArrowheads="1"/>
          </p:cNvSpPr>
          <p:nvPr/>
        </p:nvSpPr>
        <p:spPr bwMode="auto">
          <a:xfrm>
            <a:off x="2971800" y="4811837"/>
            <a:ext cx="533400" cy="304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s-ES"/>
          </a:p>
        </p:txBody>
      </p:sp>
      <p:sp>
        <p:nvSpPr>
          <p:cNvPr id="136" name="Oval 1058"/>
          <p:cNvSpPr>
            <a:spLocks noChangeArrowheads="1"/>
          </p:cNvSpPr>
          <p:nvPr/>
        </p:nvSpPr>
        <p:spPr bwMode="auto">
          <a:xfrm>
            <a:off x="5638800" y="4862637"/>
            <a:ext cx="533400" cy="304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s-ES"/>
          </a:p>
        </p:txBody>
      </p:sp>
      <p:sp>
        <p:nvSpPr>
          <p:cNvPr id="137" name="Oval 1059"/>
          <p:cNvSpPr>
            <a:spLocks noChangeArrowheads="1"/>
          </p:cNvSpPr>
          <p:nvPr/>
        </p:nvSpPr>
        <p:spPr bwMode="auto">
          <a:xfrm>
            <a:off x="8305800" y="4862637"/>
            <a:ext cx="533400" cy="304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es-ES"/>
          </a:p>
        </p:txBody>
      </p:sp>
      <p:sp>
        <p:nvSpPr>
          <p:cNvPr id="141" name="Text Box 1064"/>
          <p:cNvSpPr txBox="1">
            <a:spLocks noChangeArrowheads="1"/>
          </p:cNvSpPr>
          <p:nvPr/>
        </p:nvSpPr>
        <p:spPr bwMode="auto">
          <a:xfrm>
            <a:off x="4803775" y="5650037"/>
            <a:ext cx="2184400" cy="4103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just" defTabSz="762000" eaLnBrk="0" fontAlgn="base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defRPr/>
            </a:pPr>
            <a:r>
              <a:rPr lang="es-ES_tradnl" sz="2000" b="1" dirty="0">
                <a:latin typeface="Calibri" pitchFamily="34" charset="0"/>
                <a:cs typeface="Calibri" pitchFamily="34" charset="0"/>
              </a:rPr>
              <a:t>Índice o posición en la tabla</a:t>
            </a:r>
          </a:p>
          <a:p>
            <a:pPr algn="ctr">
              <a:defRPr/>
            </a:pPr>
            <a:endParaRPr lang="es-ES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2" name="141 Rectángulo redondeado"/>
          <p:cNvSpPr/>
          <p:nvPr/>
        </p:nvSpPr>
        <p:spPr bwMode="auto">
          <a:xfrm>
            <a:off x="506537" y="3600165"/>
            <a:ext cx="8856984" cy="2700424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cxnSp>
        <p:nvCxnSpPr>
          <p:cNvPr id="3" name="2 Conector angular"/>
          <p:cNvCxnSpPr>
            <a:stCxn id="132" idx="0"/>
            <a:endCxn id="134" idx="1"/>
          </p:cNvCxnSpPr>
          <p:nvPr/>
        </p:nvCxnSpPr>
        <p:spPr bwMode="auto">
          <a:xfrm rot="5400000" flipH="1" flipV="1">
            <a:off x="4884142" y="4031779"/>
            <a:ext cx="480616" cy="57150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6" name="145 Conector recto de flecha"/>
          <p:cNvCxnSpPr>
            <a:stCxn id="128" idx="2"/>
            <a:endCxn id="141" idx="0"/>
          </p:cNvCxnSpPr>
          <p:nvPr/>
        </p:nvCxnSpPr>
        <p:spPr bwMode="auto">
          <a:xfrm flipH="1">
            <a:off x="5895975" y="5167437"/>
            <a:ext cx="20638" cy="48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9" name="148 Conector angular"/>
          <p:cNvCxnSpPr>
            <a:stCxn id="123" idx="2"/>
            <a:endCxn id="137" idx="4"/>
          </p:cNvCxnSpPr>
          <p:nvPr/>
        </p:nvCxnSpPr>
        <p:spPr bwMode="auto">
          <a:xfrm rot="16200000" flipH="1">
            <a:off x="5911056" y="2505993"/>
            <a:ext cx="12700" cy="5322887"/>
          </a:xfrm>
          <a:prstGeom prst="bent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536538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Definición y tratamiento de Tablas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486912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Tablas</a:t>
            </a:r>
            <a:r>
              <a:rPr lang="es-ES" sz="3600" baseline="0" dirty="0"/>
              <a:t> </a:t>
            </a:r>
            <a:r>
              <a:rPr lang="es-ES" sz="3600" dirty="0"/>
              <a:t>internas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11256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58" y="1716938"/>
            <a:ext cx="8447878" cy="4079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73495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Definición y tratamiento de Tablas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486912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Tablas</a:t>
            </a:r>
            <a:r>
              <a:rPr lang="es-ES" sz="3600" baseline="0" dirty="0"/>
              <a:t> </a:t>
            </a:r>
            <a:r>
              <a:rPr lang="es-ES" sz="3600" dirty="0"/>
              <a:t>externas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90391" y="1159139"/>
            <a:ext cx="8856984" cy="182908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594550" y="1239035"/>
            <a:ext cx="8747763" cy="1887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En las tabla externas, sólo es necesario definir: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1. La estructura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: usaremos las cláusulas 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OCCURS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, </a:t>
            </a:r>
            <a:r>
              <a:rPr lang="es-ES" sz="2500" dirty="0">
                <a:latin typeface="Calibri" pitchFamily="34" charset="0"/>
                <a:cs typeface="Calibri" pitchFamily="34" charset="0"/>
                <a:sym typeface="Wingdings" pitchFamily="2" charset="2"/>
              </a:rPr>
              <a:t>INDEXED BY 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(no REDEFINES)</a:t>
            </a:r>
          </a:p>
          <a:p>
            <a:pPr marL="914400" lvl="1" indent="-457200">
              <a:buAutoNum type="arabicPeriod"/>
              <a:defRPr/>
            </a:pPr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No es necesario definir los datos, porque se proporcionan desde fuera. Por ejemplo, en un fichero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</p:txBody>
      </p:sp>
      <p:sp>
        <p:nvSpPr>
          <p:cNvPr id="142" name="141 Rectángulo redondeado"/>
          <p:cNvSpPr/>
          <p:nvPr/>
        </p:nvSpPr>
        <p:spPr bwMode="auto">
          <a:xfrm>
            <a:off x="506537" y="3126731"/>
            <a:ext cx="8856984" cy="317385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58" y="3204245"/>
            <a:ext cx="8458941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26806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Definición y tratamiento de Tablas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486912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Tratamiento</a:t>
            </a:r>
            <a:r>
              <a:rPr lang="es-ES" sz="3600" baseline="0" dirty="0"/>
              <a:t> </a:t>
            </a:r>
            <a:r>
              <a:rPr lang="es-ES" sz="3600" dirty="0"/>
              <a:t>de tablas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11256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659916" y="1764085"/>
            <a:ext cx="8682395" cy="4272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400"/>
              </a:spcBef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REGLAS</a:t>
            </a:r>
          </a:p>
          <a:p>
            <a:pPr algn="just">
              <a:lnSpc>
                <a:spcPct val="120000"/>
              </a:lnSpc>
              <a:spcBef>
                <a:spcPts val="400"/>
              </a:spcBef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1.</a:t>
            </a:r>
            <a:r>
              <a:rPr lang="es-ES_tradnl" sz="30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La cláusula OCCURS no puede emplearse en un nivel 01</a:t>
            </a:r>
          </a:p>
          <a:p>
            <a:pPr>
              <a:lnSpc>
                <a:spcPts val="2400"/>
              </a:lnSpc>
              <a:spcBef>
                <a:spcPct val="15000"/>
              </a:spcBef>
              <a:buClr>
                <a:srgbClr val="000000"/>
              </a:buClr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2. 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La cláusula OCCURS no puede utilizarse en niveles 77</a:t>
            </a:r>
          </a:p>
          <a:p>
            <a:pPr>
              <a:lnSpc>
                <a:spcPts val="2400"/>
              </a:lnSpc>
              <a:spcBef>
                <a:spcPct val="15000"/>
              </a:spcBef>
              <a:buClr>
                <a:srgbClr val="000000"/>
              </a:buClr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3. 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Las tablas pueden ser de una, dos o tres dimensiones</a:t>
            </a:r>
          </a:p>
          <a:p>
            <a:pPr>
              <a:lnSpc>
                <a:spcPts val="2400"/>
              </a:lnSpc>
              <a:spcBef>
                <a:spcPct val="15000"/>
              </a:spcBef>
              <a:buClr>
                <a:srgbClr val="000000"/>
              </a:buClr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4. 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La cláusula PICTURE se aplica solamente al nivel más elemental</a:t>
            </a:r>
          </a:p>
          <a:p>
            <a:pPr>
              <a:lnSpc>
                <a:spcPts val="2400"/>
              </a:lnSpc>
              <a:spcBef>
                <a:spcPct val="15000"/>
              </a:spcBef>
              <a:buClr>
                <a:srgbClr val="000000"/>
              </a:buClr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5. 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Los índices pueden ser enteros constantes o enteros variables. </a:t>
            </a:r>
          </a:p>
          <a:p>
            <a:pPr>
              <a:lnSpc>
                <a:spcPts val="2400"/>
              </a:lnSpc>
              <a:spcBef>
                <a:spcPct val="15000"/>
              </a:spcBef>
              <a:buClr>
                <a:srgbClr val="000000"/>
              </a:buClr>
            </a:pPr>
            <a:r>
              <a:rPr lang="es-ES_tradnl" sz="2500" b="0" baseline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  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Sus valores deben ser positivos, no cero, ni negativos</a:t>
            </a:r>
            <a:endParaRPr lang="es-ES" sz="25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ts val="2400"/>
              </a:lnSpc>
              <a:spcBef>
                <a:spcPct val="15000"/>
              </a:spcBef>
            </a:pPr>
            <a:r>
              <a:rPr lang="es-ES_tradnl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6. 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El índice o índices deben estar dentro de un juego de paréntesis y separados del nombre de la </a:t>
            </a:r>
          </a:p>
          <a:p>
            <a:pPr>
              <a:lnSpc>
                <a:spcPts val="2400"/>
              </a:lnSpc>
              <a:spcBef>
                <a:spcPct val="15000"/>
              </a:spcBef>
            </a:pPr>
            <a:r>
              <a:rPr lang="es-ES_tradnl" sz="2500" b="0" baseline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 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tabla por un espacio. </a:t>
            </a:r>
          </a:p>
          <a:p>
            <a:pPr>
              <a:lnSpc>
                <a:spcPts val="2400"/>
              </a:lnSpc>
              <a:spcBef>
                <a:spcPct val="15000"/>
              </a:spcBef>
            </a:pP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  Si hay varios índices, éstos deberán estar separados por comas y espacios.</a:t>
            </a:r>
            <a:r>
              <a:rPr lang="es-ES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algn="just">
              <a:lnSpc>
                <a:spcPct val="120000"/>
              </a:lnSpc>
              <a:spcBef>
                <a:spcPts val="400"/>
              </a:spcBef>
              <a:buFontTx/>
              <a:buAutoNum type="arabicPeriod"/>
            </a:pPr>
            <a:endParaRPr lang="es-ES_tradnl" sz="25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4936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Definición y tratamiento de Tablas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486912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Tratamiento</a:t>
            </a:r>
            <a:r>
              <a:rPr lang="es-ES" sz="3600" baseline="0" dirty="0"/>
              <a:t> </a:t>
            </a:r>
            <a:r>
              <a:rPr lang="es-ES" sz="3600" dirty="0"/>
              <a:t>de tablas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11256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608497" y="1260029"/>
            <a:ext cx="8589800" cy="533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SEARCH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 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Sentencia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para realizar búsquedas en series de una tabla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En primer lugar, el índice de la tabla debe ser 1. Esto se hará con la  			sentencia SET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SET 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TB-INDICE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 TO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1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.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Después empezaremos la búsqueda atendiendo a un criterio o condición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Sintaxis: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SEARCH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	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TB-TABLA-ENTRADA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       	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AT END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		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Sentencias imperativas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               	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WHEN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	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Condición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               				</a:t>
            </a:r>
            <a:r>
              <a:rPr lang="es-ES" sz="2500" b="0" i="1" dirty="0">
                <a:latin typeface="Calibri" pitchFamily="34" charset="0"/>
                <a:cs typeface="Calibri" pitchFamily="34" charset="0"/>
              </a:rPr>
              <a:t>Sentencias imperativas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END-SEARCH</a:t>
            </a:r>
          </a:p>
          <a:p>
            <a:pPr lvl="1">
              <a:defRPr/>
            </a:pPr>
            <a:endParaRPr lang="es-ES" sz="25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lvl="2" algn="just">
              <a:lnSpc>
                <a:spcPct val="100000"/>
              </a:lnSpc>
              <a:defRPr/>
            </a:pPr>
            <a:r>
              <a:rPr lang="es-ES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AT END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	</a:t>
            </a:r>
            <a:r>
              <a:rPr lang="es-ES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Nos indica que hacer si no encuentra la entrada</a:t>
            </a:r>
          </a:p>
          <a:p>
            <a:pPr lvl="2" algn="just">
              <a:lnSpc>
                <a:spcPct val="100000"/>
              </a:lnSpc>
              <a:defRPr/>
            </a:pPr>
            <a:r>
              <a:rPr lang="es-ES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WHEN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	Indica </a:t>
            </a:r>
            <a:r>
              <a:rPr lang="es-ES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que hacer cuando encuentra la entrada</a:t>
            </a:r>
          </a:p>
          <a:p>
            <a:pPr lvl="2" algn="just">
              <a:lnSpc>
                <a:spcPct val="100000"/>
              </a:lnSpc>
              <a:defRPr/>
            </a:pPr>
            <a:r>
              <a:rPr lang="es-ES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END-SEARCH</a:t>
            </a:r>
            <a:r>
              <a:rPr lang="es-ES_tradnl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Marca el final de la búsqueda</a:t>
            </a:r>
            <a:endParaRPr lang="es-ES_tradnl" sz="25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endParaRPr lang="es-ES_tradnl" b="0" dirty="0">
              <a:solidFill>
                <a:srgbClr val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4936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Definición y tratamiento de Tablas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486912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Tratamiento</a:t>
            </a:r>
            <a:r>
              <a:rPr lang="es-ES" sz="3600" baseline="0" dirty="0"/>
              <a:t> </a:t>
            </a:r>
            <a:r>
              <a:rPr lang="es-ES" sz="3600" dirty="0"/>
              <a:t>de tablas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11256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94" y="1859737"/>
            <a:ext cx="8555454" cy="3648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8504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Definición y tratamiento de Tablas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486912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Tratamiento</a:t>
            </a:r>
            <a:r>
              <a:rPr lang="es-ES" sz="3600" baseline="0" dirty="0"/>
              <a:t> </a:t>
            </a:r>
            <a:r>
              <a:rPr lang="es-ES" sz="3600" dirty="0"/>
              <a:t>de tablas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2304256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647347" y="1260029"/>
            <a:ext cx="853294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PERFORM</a:t>
            </a:r>
            <a:r>
              <a:rPr lang="en-US" sz="30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VARYING 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Se </a:t>
            </a:r>
            <a:r>
              <a:rPr lang="en-US" sz="2500" b="0" dirty="0" err="1">
                <a:latin typeface="Calibri" pitchFamily="34" charset="0"/>
                <a:cs typeface="Calibri" pitchFamily="34" charset="0"/>
              </a:rPr>
              <a:t>utiliza</a:t>
            </a:r>
            <a:r>
              <a:rPr lang="en-U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500" b="0" dirty="0" err="1">
                <a:latin typeface="Calibri" pitchFamily="34" charset="0"/>
                <a:cs typeface="Calibri" pitchFamily="34" charset="0"/>
              </a:rPr>
              <a:t>para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500" b="0" dirty="0" err="1">
                <a:latin typeface="Calibri" pitchFamily="34" charset="0"/>
                <a:cs typeface="Calibri" pitchFamily="34" charset="0"/>
              </a:rPr>
              <a:t>tratar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500" b="0" dirty="0" err="1">
                <a:latin typeface="Calibri" pitchFamily="34" charset="0"/>
                <a:cs typeface="Calibri" pitchFamily="34" charset="0"/>
              </a:rPr>
              <a:t>todos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los </a:t>
            </a:r>
            <a:r>
              <a:rPr lang="en-US" sz="2500" b="0" dirty="0" err="1">
                <a:latin typeface="Calibri" pitchFamily="34" charset="0"/>
                <a:cs typeface="Calibri" pitchFamily="34" charset="0"/>
              </a:rPr>
              <a:t>elementos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de </a:t>
            </a:r>
            <a:r>
              <a:rPr lang="en-US" sz="2500" b="0" dirty="0" err="1">
                <a:latin typeface="Calibri" pitchFamily="34" charset="0"/>
                <a:cs typeface="Calibri" pitchFamily="34" charset="0"/>
              </a:rPr>
              <a:t>una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500" b="0" dirty="0" err="1">
                <a:latin typeface="Calibri" pitchFamily="34" charset="0"/>
                <a:cs typeface="Calibri" pitchFamily="34" charset="0"/>
              </a:rPr>
              <a:t>tabla</a:t>
            </a:r>
            <a:endParaRPr lang="en-US" sz="2500" b="0" dirty="0">
              <a:latin typeface="Calibri" pitchFamily="34" charset="0"/>
              <a:cs typeface="Calibri" pitchFamily="34" charset="0"/>
            </a:endParaRPr>
          </a:p>
          <a:p>
            <a:pPr algn="just">
              <a:lnSpc>
                <a:spcPts val="1800"/>
              </a:lnSpc>
            </a:pPr>
            <a:endParaRPr lang="en-US" sz="2500" b="0" dirty="0">
              <a:latin typeface="Calibri" pitchFamily="34" charset="0"/>
              <a:cs typeface="Calibri" pitchFamily="34" charset="0"/>
            </a:endParaRPr>
          </a:p>
          <a:p>
            <a:pPr algn="just">
              <a:lnSpc>
                <a:spcPts val="1800"/>
              </a:lnSpc>
            </a:pPr>
            <a:r>
              <a:rPr lang="en-US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		</a:t>
            </a:r>
            <a:r>
              <a:rPr lang="en-US" sz="2500" b="0" dirty="0" err="1">
                <a:latin typeface="Calibri" pitchFamily="34" charset="0"/>
                <a:cs typeface="Calibri" pitchFamily="34" charset="0"/>
              </a:rPr>
              <a:t>Sintaxis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:</a:t>
            </a:r>
          </a:p>
          <a:p>
            <a:pPr algn="just">
              <a:lnSpc>
                <a:spcPts val="1800"/>
              </a:lnSpc>
            </a:pPr>
            <a:endParaRPr lang="en-US" sz="2500" b="0" dirty="0">
              <a:latin typeface="Calibri" pitchFamily="34" charset="0"/>
              <a:cs typeface="Calibri" pitchFamily="34" charset="0"/>
            </a:endParaRPr>
          </a:p>
          <a:p>
            <a:pPr algn="just">
              <a:lnSpc>
                <a:spcPts val="1800"/>
              </a:lnSpc>
            </a:pPr>
            <a:r>
              <a:rPr lang="en-US" sz="2500" dirty="0">
                <a:solidFill>
                  <a:srgbClr val="000099"/>
                </a:solidFill>
                <a:latin typeface="Calibri" pitchFamily="34" charset="0"/>
                <a:cs typeface="Calibri" pitchFamily="34" charset="0"/>
              </a:rPr>
              <a:t>		</a:t>
            </a:r>
            <a:r>
              <a:rPr lang="en-US" sz="2500" dirty="0">
                <a:latin typeface="Calibri" pitchFamily="34" charset="0"/>
                <a:cs typeface="Calibri" pitchFamily="34" charset="0"/>
              </a:rPr>
              <a:t>PERFORM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500" dirty="0">
                <a:latin typeface="Calibri" pitchFamily="34" charset="0"/>
                <a:cs typeface="Calibri" pitchFamily="34" charset="0"/>
              </a:rPr>
              <a:t>VARYING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TB</a:t>
            </a:r>
            <a:r>
              <a:rPr lang="en-US" sz="2500" b="0" i="1" dirty="0">
                <a:latin typeface="Calibri" pitchFamily="34" charset="0"/>
                <a:cs typeface="Calibri" pitchFamily="34" charset="0"/>
              </a:rPr>
              <a:t>-INDICE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500" dirty="0">
                <a:latin typeface="Calibri" pitchFamily="34" charset="0"/>
                <a:cs typeface="Calibri" pitchFamily="34" charset="0"/>
              </a:rPr>
              <a:t>FROM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1 </a:t>
            </a:r>
            <a:r>
              <a:rPr lang="en-US" sz="2500" dirty="0">
                <a:latin typeface="Calibri" pitchFamily="34" charset="0"/>
                <a:cs typeface="Calibri" pitchFamily="34" charset="0"/>
              </a:rPr>
              <a:t>BY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1 </a:t>
            </a:r>
          </a:p>
          <a:p>
            <a:pPr algn="just">
              <a:lnSpc>
                <a:spcPts val="1800"/>
              </a:lnSpc>
            </a:pPr>
            <a:r>
              <a:rPr lang="en-US" sz="2500" b="0" dirty="0">
                <a:latin typeface="Calibri" pitchFamily="34" charset="0"/>
                <a:cs typeface="Calibri" pitchFamily="34" charset="0"/>
              </a:rPr>
              <a:t>			</a:t>
            </a:r>
            <a:r>
              <a:rPr lang="en-US" sz="2500" dirty="0">
                <a:latin typeface="Calibri" pitchFamily="34" charset="0"/>
                <a:cs typeface="Calibri" pitchFamily="34" charset="0"/>
              </a:rPr>
              <a:t>UNTIL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TB</a:t>
            </a:r>
            <a:r>
              <a:rPr lang="en-US" sz="2500" b="0" i="1" dirty="0">
                <a:latin typeface="Calibri" pitchFamily="34" charset="0"/>
                <a:cs typeface="Calibri" pitchFamily="34" charset="0"/>
              </a:rPr>
              <a:t>-INDICE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500" dirty="0">
                <a:latin typeface="Calibri" pitchFamily="34" charset="0"/>
                <a:cs typeface="Calibri" pitchFamily="34" charset="0"/>
              </a:rPr>
              <a:t>GREATER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 </a:t>
            </a:r>
            <a:r>
              <a:rPr lang="en-US" sz="2500" b="0" i="1" dirty="0">
                <a:latin typeface="Calibri" pitchFamily="34" charset="0"/>
                <a:cs typeface="Calibri" pitchFamily="34" charset="0"/>
              </a:rPr>
              <a:t>LONG_TABLA</a:t>
            </a:r>
          </a:p>
          <a:p>
            <a:pPr algn="just">
              <a:lnSpc>
                <a:spcPts val="1800"/>
              </a:lnSpc>
            </a:pPr>
            <a:r>
              <a:rPr lang="en-US" sz="2500" b="0" i="1" dirty="0">
                <a:latin typeface="Calibri" pitchFamily="34" charset="0"/>
                <a:cs typeface="Calibri" pitchFamily="34" charset="0"/>
              </a:rPr>
              <a:t>		</a:t>
            </a:r>
          </a:p>
          <a:p>
            <a:pPr algn="just">
              <a:lnSpc>
                <a:spcPts val="1800"/>
              </a:lnSpc>
            </a:pPr>
            <a:r>
              <a:rPr lang="en-US" sz="2500" b="0" i="1" dirty="0">
                <a:latin typeface="Calibri" pitchFamily="34" charset="0"/>
                <a:cs typeface="Calibri" pitchFamily="34" charset="0"/>
              </a:rPr>
              <a:t>		</a:t>
            </a:r>
            <a:r>
              <a:rPr lang="en-U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LONG_TABLA</a:t>
            </a:r>
            <a:r>
              <a:rPr lang="en-US" sz="2500" b="0" i="1" dirty="0">
                <a:latin typeface="Calibri" pitchFamily="34" charset="0"/>
                <a:cs typeface="Calibri" pitchFamily="34" charset="0"/>
              </a:rPr>
              <a:t> 	</a:t>
            </a:r>
            <a:r>
              <a:rPr lang="en-US" sz="2500" b="0" dirty="0" err="1">
                <a:latin typeface="Calibri" pitchFamily="34" charset="0"/>
                <a:cs typeface="Calibri" pitchFamily="34" charset="0"/>
              </a:rPr>
              <a:t>Longitud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de la </a:t>
            </a:r>
            <a:r>
              <a:rPr lang="en-US" sz="2500" b="0" dirty="0" err="1">
                <a:latin typeface="Calibri" pitchFamily="34" charset="0"/>
                <a:cs typeface="Calibri" pitchFamily="34" charset="0"/>
              </a:rPr>
              <a:t>tabla</a:t>
            </a:r>
            <a:r>
              <a:rPr lang="en-US" sz="2500" b="0" dirty="0">
                <a:latin typeface="Calibri" pitchFamily="34" charset="0"/>
                <a:cs typeface="Calibri" pitchFamily="34" charset="0"/>
              </a:rPr>
              <a:t> (OCCURS)</a:t>
            </a:r>
          </a:p>
          <a:p>
            <a:pPr algn="just">
              <a:lnSpc>
                <a:spcPts val="1800"/>
              </a:lnSpc>
            </a:pPr>
            <a:endParaRPr lang="en-US" sz="2500" b="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433" y="3852317"/>
            <a:ext cx="6984776" cy="276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 redondeado"/>
          <p:cNvSpPr/>
          <p:nvPr/>
        </p:nvSpPr>
        <p:spPr bwMode="auto">
          <a:xfrm>
            <a:off x="485329" y="3708302"/>
            <a:ext cx="8856984" cy="3024336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29848610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Definición y tratamiento de Tablas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620069"/>
            <a:ext cx="8640960" cy="432048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480967" y="475036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Práctica</a:t>
            </a:r>
            <a:r>
              <a:rPr lang="es-ES" sz="3600" baseline="0" dirty="0"/>
              <a:t> </a:t>
            </a:r>
            <a:r>
              <a:rPr lang="es-ES" sz="3600" dirty="0"/>
              <a:t>3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357537" y="2628181"/>
            <a:ext cx="4824536" cy="7200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Font typeface="Wingdings" pitchFamily="2" charset="2"/>
              <a:buChar char="–"/>
              <a:defRPr sz="2100">
                <a:solidFill>
                  <a:schemeClr val="bg2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Font typeface="Wingdings" pitchFamily="2" charset="2"/>
              <a:buChar char="•"/>
              <a:defRPr sz="2100">
                <a:solidFill>
                  <a:schemeClr val="bg2"/>
                </a:solidFill>
                <a:latin typeface="+mn-lt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•"/>
              <a:defRPr sz="2100">
                <a:solidFill>
                  <a:schemeClr val="bg2"/>
                </a:solidFill>
                <a:latin typeface="+mn-lt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5pPr>
            <a:lvl6pPr marL="25146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6pPr>
            <a:lvl7pPr marL="29718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7pPr>
            <a:lvl8pPr marL="34290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8pPr>
            <a:lvl9pPr marL="38862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9pPr>
          </a:lstStyle>
          <a:p>
            <a:pPr marL="914400" lvl="2" indent="0">
              <a:buNone/>
            </a:pPr>
            <a:r>
              <a:rPr lang="es-ES" sz="4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PRÁCTICA 3 - Tablas</a:t>
            </a:r>
            <a:endParaRPr lang="es-ES" sz="4000" b="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845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Introducción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 bwMode="auto">
          <a:xfrm>
            <a:off x="691470" y="1518830"/>
            <a:ext cx="8506827" cy="4781759"/>
          </a:xfrm>
          <a:prstGeom prst="roundRect">
            <a:avLst>
              <a:gd name="adj" fmla="val 5331"/>
            </a:avLst>
          </a:prstGeom>
          <a:solidFill>
            <a:schemeClr val="bg1"/>
          </a:solidFill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1. Introducción al lenguaje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2. Estructura de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3. Sentencias 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4. Acceso a Ficheros de Datos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5. Compilando y Ejecutando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6. Definición y tratamiento de Tablas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aseline="0" dirty="0">
                <a:solidFill>
                  <a:srgbClr val="9AAE04"/>
                </a:solidFill>
                <a:latin typeface="Calibri"/>
              </a:rPr>
              <a:t>7. </a:t>
            </a:r>
            <a:r>
              <a:rPr lang="es-ES" sz="2500" baseline="0" dirty="0" err="1">
                <a:solidFill>
                  <a:srgbClr val="9AAE04"/>
                </a:solidFill>
                <a:latin typeface="Calibri"/>
              </a:rPr>
              <a:t>Matching</a:t>
            </a:r>
            <a:r>
              <a:rPr lang="es-ES" sz="2500" baseline="0" dirty="0">
                <a:solidFill>
                  <a:srgbClr val="9AAE04"/>
                </a:solidFill>
                <a:latin typeface="Calibri"/>
              </a:rPr>
              <a:t> de Ficheros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8. Programación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multimodular</a:t>
            </a:r>
            <a:endParaRPr lang="es-ES" sz="2500" b="0" baseline="0" dirty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5090693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 err="1"/>
              <a:t>Matching</a:t>
            </a:r>
            <a:r>
              <a:rPr lang="es-ES" sz="2500" dirty="0"/>
              <a:t> de ficheros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61195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Definición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11256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608497" y="2196133"/>
            <a:ext cx="8589800" cy="2913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MATCHING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 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Cruce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de 2 ó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más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ficheros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CLAVE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	Campos de cada fichero que compararemos al realizar el </a:t>
            </a:r>
            <a:r>
              <a:rPr lang="es-ES" sz="2500" b="0" dirty="0" err="1">
                <a:latin typeface="Calibri" pitchFamily="34" charset="0"/>
                <a:cs typeface="Calibri" pitchFamily="34" charset="0"/>
              </a:rPr>
              <a:t>matching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Tienen que estar ordenados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igual y  tener el mismo formato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TIPOS</a:t>
            </a:r>
          </a:p>
          <a:p>
            <a:pPr lvl="1">
              <a:defRPr/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1:1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	Uno a uno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1:n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	Uno a varios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n:1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	Varios a uno	</a:t>
            </a: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n:n</a:t>
            </a:r>
            <a:r>
              <a:rPr lang="es-ES_tradnl" sz="2500" b="0" dirty="0">
                <a:latin typeface="Calibri" pitchFamily="34" charset="0"/>
                <a:cs typeface="Calibri" pitchFamily="34" charset="0"/>
              </a:rPr>
              <a:t>	Varios a varios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endParaRPr lang="es-ES_tradnl" b="0" dirty="0">
              <a:solidFill>
                <a:srgbClr val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1763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 err="1"/>
              <a:t>Matching</a:t>
            </a:r>
            <a:r>
              <a:rPr lang="es-ES" sz="2500" dirty="0"/>
              <a:t> de ficheros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467941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 err="1"/>
              <a:t>Matching</a:t>
            </a:r>
            <a:r>
              <a:rPr lang="es-ES" sz="3600" baseline="0" dirty="0"/>
              <a:t> </a:t>
            </a:r>
            <a:r>
              <a:rPr lang="es-ES" sz="3600" dirty="0"/>
              <a:t>1:1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11256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485329" y="1116013"/>
            <a:ext cx="9035817" cy="5011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Clr>
                <a:schemeClr val="accent2"/>
              </a:buClr>
              <a:defRPr/>
            </a:pPr>
            <a:r>
              <a:rPr lang="es-ES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MATCHING</a:t>
            </a:r>
            <a:r>
              <a:rPr lang="es-ES" sz="30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s-ES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1:1</a:t>
            </a:r>
            <a:r>
              <a:rPr lang="es-ES" sz="30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 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El valor de los campos que compararemos sólo estará una vez en cada fichero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Este proceso se repetirá n veces,  dependiendo del tratamiento deseado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1.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Proceso hasta final del fichero 1	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Trataremos todos los registros del fichero 1, existan o no en el fichero 2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2.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Proceso hasta final del fichero 1 y final del fichero 2</a:t>
            </a: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Trataremos todos los registros de los 2 ficheros. 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Esto incluye: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- Los registros comunes a ambos ficheros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- Los registros del fichero 1 que no están en el fichero 2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- Los registros del fichero 2 que no están el fichero 1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3.</a:t>
            </a:r>
            <a:r>
              <a:rPr lang="es-ES" sz="25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Proceso hasta final del fichero 1 o final del fichero2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Trataremos los registros coincidentes. </a:t>
            </a:r>
          </a:p>
          <a:p>
            <a:pPr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En el momento en que uno de los ficheros se termine, no volveremos a 			tener claves coincidentes por lo que no tiene sentido continuar la ejecución.</a:t>
            </a:r>
            <a:br>
              <a:rPr lang="es-ES" dirty="0"/>
            </a:br>
            <a:endParaRPr lang="es-ES_tradnl" b="0" dirty="0">
              <a:solidFill>
                <a:srgbClr val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8153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 err="1"/>
              <a:t>Matching</a:t>
            </a:r>
            <a:r>
              <a:rPr lang="es-ES" sz="2500" dirty="0"/>
              <a:t> de ficheros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467941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 err="1"/>
              <a:t>Matching</a:t>
            </a:r>
            <a:r>
              <a:rPr lang="es-ES" sz="3600" baseline="0" dirty="0"/>
              <a:t> </a:t>
            </a:r>
            <a:r>
              <a:rPr lang="es-ES" sz="3600" dirty="0"/>
              <a:t>1:1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3285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752513" y="1300560"/>
            <a:ext cx="8589800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" sz="2300" b="0" dirty="0">
                <a:latin typeface="Calibri" pitchFamily="34" charset="0"/>
                <a:cs typeface="Calibri" pitchFamily="34" charset="0"/>
              </a:rPr>
              <a:t>PERFORM PROCESO </a:t>
            </a:r>
          </a:p>
          <a:p>
            <a:pPr marL="1588" lvl="1"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" sz="2300" b="0" dirty="0">
                <a:latin typeface="Calibri" pitchFamily="34" charset="0"/>
                <a:cs typeface="Calibri" pitchFamily="34" charset="0"/>
              </a:rPr>
              <a:t>THRU FIN-PROCESO  </a:t>
            </a:r>
          </a:p>
          <a:p>
            <a:pPr marL="1588" lvl="1"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" sz="2300" b="0" dirty="0">
                <a:latin typeface="Calibri" pitchFamily="34" charset="0"/>
                <a:cs typeface="Calibri" pitchFamily="34" charset="0"/>
              </a:rPr>
              <a:t>UNTIL FIN-FICHERO1 AND FIN-FICHERO2</a:t>
            </a: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marL="1588" lvl="1">
              <a:spcBef>
                <a:spcPts val="0"/>
              </a:spcBef>
              <a:buClr>
                <a:schemeClr val="accent2"/>
              </a:buClr>
              <a:defRPr/>
            </a:pPr>
            <a:r>
              <a:rPr lang="es-ES" sz="2300" b="0" dirty="0">
                <a:latin typeface="Calibri" pitchFamily="34" charset="0"/>
                <a:cs typeface="Calibri" pitchFamily="34" charset="0"/>
              </a:rPr>
              <a:t>PROCESO.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r>
              <a:rPr lang="es-ES" sz="2300" b="0" dirty="0">
                <a:latin typeface="Calibri" pitchFamily="34" charset="0"/>
                <a:cs typeface="Calibri" pitchFamily="34" charset="0"/>
              </a:rPr>
              <a:t>  	IF   CLAVE1 = CLAVE2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r>
              <a:rPr lang="es-ES" sz="2300" b="0" dirty="0">
                <a:latin typeface="Calibri" pitchFamily="34" charset="0"/>
                <a:cs typeface="Calibri" pitchFamily="34" charset="0"/>
              </a:rPr>
              <a:t>       	      PERFORM ESCRIBE-SALIDA-CRUCE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r>
              <a:rPr lang="es-ES" sz="2300" b="0" dirty="0">
                <a:latin typeface="Calibri" pitchFamily="34" charset="0"/>
                <a:cs typeface="Calibri" pitchFamily="34" charset="0"/>
              </a:rPr>
              <a:t>       	      PERFORM LEER-FICHERO1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r>
              <a:rPr lang="es-ES" sz="2300" b="0" dirty="0">
                <a:latin typeface="Calibri" pitchFamily="34" charset="0"/>
                <a:cs typeface="Calibri" pitchFamily="34" charset="0"/>
              </a:rPr>
              <a:t>       	      PERFORM LEER-FICHERO2</a:t>
            </a:r>
          </a:p>
          <a:p>
            <a:pPr marL="1588" lvl="1"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" sz="2300" b="0" dirty="0">
                <a:latin typeface="Calibri" pitchFamily="34" charset="0"/>
                <a:cs typeface="Calibri" pitchFamily="34" charset="0"/>
              </a:rPr>
              <a:t>   	ELSE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r>
              <a:rPr lang="es-ES" sz="2300" b="0" dirty="0">
                <a:latin typeface="Calibri" pitchFamily="34" charset="0"/>
                <a:cs typeface="Calibri" pitchFamily="34" charset="0"/>
              </a:rPr>
              <a:t>        	      IF  CLAVE1 &lt; CLAVE2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r>
              <a:rPr lang="es-ES" sz="2300" b="0" dirty="0">
                <a:latin typeface="Calibri" pitchFamily="34" charset="0"/>
                <a:cs typeface="Calibri" pitchFamily="34" charset="0"/>
              </a:rPr>
              <a:t>              	           DISPLAY 'CLAVE1 NO EXISTE EN FICHERO2'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r>
              <a:rPr lang="es-ES" sz="2300" b="0" dirty="0">
                <a:latin typeface="Calibri" pitchFamily="34" charset="0"/>
                <a:cs typeface="Calibri" pitchFamily="34" charset="0"/>
              </a:rPr>
              <a:t>             	           PERFORM LEER-FICHERO1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r>
              <a:rPr lang="es-ES" sz="2300" b="0" dirty="0">
                <a:latin typeface="Calibri" pitchFamily="34" charset="0"/>
                <a:cs typeface="Calibri" pitchFamily="34" charset="0"/>
              </a:rPr>
              <a:t>          	       ELSE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r>
              <a:rPr lang="es-ES" sz="2300" b="0" dirty="0">
                <a:latin typeface="Calibri" pitchFamily="34" charset="0"/>
                <a:cs typeface="Calibri" pitchFamily="34" charset="0"/>
              </a:rPr>
              <a:t>              	           DISPLAY 'CLAVE2 NO EXISTE EN FICHERO1'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r>
              <a:rPr lang="es-ES" sz="2300" b="0" dirty="0">
                <a:latin typeface="Calibri" pitchFamily="34" charset="0"/>
                <a:cs typeface="Calibri" pitchFamily="34" charset="0"/>
              </a:rPr>
              <a:t>             	           PERFORM LEER-FICHERO2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r>
              <a:rPr lang="es-ES" sz="2300" b="0" dirty="0">
                <a:latin typeface="Calibri" pitchFamily="34" charset="0"/>
                <a:cs typeface="Calibri" pitchFamily="34" charset="0"/>
              </a:rPr>
              <a:t>         	       END-IF</a:t>
            </a:r>
          </a:p>
          <a:p>
            <a:pPr marL="1588" lvl="1"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s-ES" sz="2300" b="0" dirty="0">
                <a:latin typeface="Calibri" pitchFamily="34" charset="0"/>
                <a:cs typeface="Calibri" pitchFamily="34" charset="0"/>
              </a:rPr>
              <a:t>  	END-IF.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r>
              <a:rPr lang="es-ES" sz="2300" b="0" dirty="0">
                <a:latin typeface="Calibri" pitchFamily="34" charset="0"/>
                <a:cs typeface="Calibri" pitchFamily="34" charset="0"/>
              </a:rPr>
              <a:t>FIN-PROCESO.</a:t>
            </a:r>
          </a:p>
          <a:p>
            <a:pPr marL="1588" lvl="1">
              <a:spcBef>
                <a:spcPts val="0"/>
              </a:spcBef>
              <a:buClr>
                <a:schemeClr val="accent2"/>
              </a:buClr>
              <a:defRPr/>
            </a:pPr>
            <a:r>
              <a:rPr lang="es-ES" sz="2300" b="0" dirty="0">
                <a:latin typeface="Calibri" pitchFamily="34" charset="0"/>
                <a:cs typeface="Calibri" pitchFamily="34" charset="0"/>
              </a:rPr>
              <a:t>EXIT.</a:t>
            </a: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endParaRPr lang="es-ES_tradnl" sz="23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6239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 err="1"/>
              <a:t>Matching</a:t>
            </a:r>
            <a:r>
              <a:rPr lang="es-ES" sz="2500" dirty="0"/>
              <a:t> de ficheros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85329" y="467941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 err="1"/>
              <a:t>Matching</a:t>
            </a:r>
            <a:r>
              <a:rPr lang="es-ES" sz="3600" baseline="0" dirty="0"/>
              <a:t> </a:t>
            </a:r>
            <a:r>
              <a:rPr lang="es-ES" sz="3600" dirty="0"/>
              <a:t>1:n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144016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752513" y="1300560"/>
            <a:ext cx="8589800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62000"/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MATCHING</a:t>
            </a:r>
            <a:r>
              <a:rPr lang="es-ES" sz="25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1:n</a:t>
            </a:r>
            <a:r>
              <a:rPr lang="es-ES" sz="2500" baseline="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 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El valor de los campos que compararemos estará sólo una vez en el fichero 1, 			pero más de una vez en el fichero 2</a:t>
            </a:r>
            <a:endParaRPr lang="es-ES_tradnl" sz="2500" b="0" dirty="0">
              <a:latin typeface="Calibri" pitchFamily="34" charset="0"/>
              <a:cs typeface="Calibri" pitchFamily="34" charset="0"/>
            </a:endParaRPr>
          </a:p>
          <a:p>
            <a:pPr defTabSz="762000"/>
            <a:r>
              <a:rPr lang="es-ES" sz="2500" b="0" dirty="0">
                <a:latin typeface="Calibri" pitchFamily="34" charset="0"/>
                <a:cs typeface="Calibri" pitchFamily="34" charset="0"/>
              </a:rPr>
              <a:t>		Por lo tanto,  ahora tendremos que tratar todos los registros del fichero 2 que 			tengan la misma clave, antes de tratar el siguiente registro del fichero 1. </a:t>
            </a:r>
          </a:p>
        </p:txBody>
      </p:sp>
      <p:sp>
        <p:nvSpPr>
          <p:cNvPr id="8" name="7 Rectángulo redondeado"/>
          <p:cNvSpPr/>
          <p:nvPr/>
        </p:nvSpPr>
        <p:spPr bwMode="auto">
          <a:xfrm>
            <a:off x="485329" y="2844205"/>
            <a:ext cx="8856984" cy="3672408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631192" y="2876982"/>
            <a:ext cx="8589800" cy="3770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62000"/>
            <a:r>
              <a:rPr lang="es-ES" sz="2500" b="0" dirty="0">
                <a:latin typeface="Calibri" pitchFamily="34" charset="0"/>
                <a:cs typeface="Calibri" pitchFamily="34" charset="0"/>
              </a:rPr>
              <a:t> IF   CLAVE1 = CLAVE2</a:t>
            </a: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             PERFORM ESCRIBE-SALIDA-MATCHING</a:t>
            </a: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             PERFORM LEER-FICHERO2</a:t>
            </a: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        ELSE</a:t>
            </a: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             IF  CLAVE1 &lt; CLAVE2</a:t>
            </a: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                  DISPLAY 'CLAVE1 NO EXISTE EN FICHERO2'</a:t>
            </a: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                  PERFORM LEER-FICHERO1</a:t>
            </a: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              ELSE</a:t>
            </a: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                  DISPLAY 'CLAVE2 NO EXISTE EN FICHERO1'</a:t>
            </a: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                  PERFORM LEER-FICHERO2</a:t>
            </a:r>
            <a:br>
              <a:rPr lang="es-ES" sz="2500" b="0" dirty="0">
                <a:latin typeface="Calibri" pitchFamily="34" charset="0"/>
                <a:cs typeface="Calibri" pitchFamily="34" charset="0"/>
              </a:rPr>
            </a:br>
            <a:r>
              <a:rPr lang="es-ES" sz="2500" b="0" dirty="0">
                <a:latin typeface="Calibri" pitchFamily="34" charset="0"/>
                <a:cs typeface="Calibri" pitchFamily="34" charset="0"/>
              </a:rPr>
              <a:t>              END-IF</a:t>
            </a:r>
          </a:p>
          <a:p>
            <a:pPr marL="0" lvl="1" indent="0">
              <a:lnSpc>
                <a:spcPct val="100000"/>
              </a:lnSpc>
              <a:spcBef>
                <a:spcPct val="50000"/>
              </a:spcBef>
              <a:buClr>
                <a:schemeClr val="accent2"/>
              </a:buClr>
              <a:buNone/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       END-IF.</a:t>
            </a:r>
            <a:endParaRPr lang="es-ES_tradnl" sz="2500" b="0" dirty="0">
              <a:latin typeface="Calibri" pitchFamily="34" charset="0"/>
              <a:cs typeface="Calibri" pitchFamily="34" charset="0"/>
            </a:endParaRPr>
          </a:p>
          <a:p>
            <a:pPr marL="1588" lvl="1">
              <a:spcBef>
                <a:spcPts val="0"/>
              </a:spcBef>
              <a:buClr>
                <a:schemeClr val="accent2"/>
              </a:buClr>
              <a:defRPr/>
            </a:pPr>
            <a:br>
              <a:rPr lang="es-ES" sz="2300" b="0" dirty="0">
                <a:latin typeface="Calibri" pitchFamily="34" charset="0"/>
                <a:cs typeface="Calibri" pitchFamily="34" charset="0"/>
              </a:rPr>
            </a:br>
            <a:endParaRPr lang="es-ES_tradnl" sz="23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9697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 err="1"/>
              <a:t>Matching</a:t>
            </a:r>
            <a:r>
              <a:rPr lang="es-ES" sz="2500" dirty="0"/>
              <a:t> de ficheros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620069"/>
            <a:ext cx="8640960" cy="432048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480967" y="475036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Práctica</a:t>
            </a:r>
            <a:r>
              <a:rPr lang="es-ES" sz="3600" baseline="0" dirty="0"/>
              <a:t> </a:t>
            </a:r>
            <a:r>
              <a:rPr lang="es-ES" sz="3600" dirty="0"/>
              <a:t>4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632635" y="2596289"/>
            <a:ext cx="5976664" cy="8640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Font typeface="Wingdings" pitchFamily="2" charset="2"/>
              <a:buChar char="–"/>
              <a:defRPr sz="2100">
                <a:solidFill>
                  <a:schemeClr val="bg2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Font typeface="Wingdings" pitchFamily="2" charset="2"/>
              <a:buChar char="•"/>
              <a:defRPr sz="2100">
                <a:solidFill>
                  <a:schemeClr val="bg2"/>
                </a:solidFill>
                <a:latin typeface="+mn-lt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•"/>
              <a:defRPr sz="2100">
                <a:solidFill>
                  <a:schemeClr val="bg2"/>
                </a:solidFill>
                <a:latin typeface="+mn-lt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5pPr>
            <a:lvl6pPr marL="25146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6pPr>
            <a:lvl7pPr marL="29718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7pPr>
            <a:lvl8pPr marL="34290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8pPr>
            <a:lvl9pPr marL="38862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9pPr>
          </a:lstStyle>
          <a:p>
            <a:pPr marL="914400" lvl="2" indent="0">
              <a:buNone/>
            </a:pPr>
            <a:r>
              <a:rPr lang="es-ES" sz="4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PRÁCTICA 4 – </a:t>
            </a:r>
            <a:r>
              <a:rPr lang="es-ES" sz="4000" dirty="0" err="1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Matching</a:t>
            </a:r>
            <a:r>
              <a:rPr lang="es-ES" sz="4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 1:1</a:t>
            </a:r>
            <a:endParaRPr lang="es-ES" sz="4000" b="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8548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 err="1"/>
              <a:t>Matching</a:t>
            </a:r>
            <a:r>
              <a:rPr lang="es-ES" sz="2500" dirty="0"/>
              <a:t> de ficheros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620069"/>
            <a:ext cx="8640960" cy="432048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487015" y="61195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Práctica 5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997497" y="2628181"/>
            <a:ext cx="5040560" cy="8640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Font typeface="Wingdings" pitchFamily="2" charset="2"/>
              <a:buChar char="–"/>
              <a:defRPr sz="2100">
                <a:solidFill>
                  <a:schemeClr val="bg2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Font typeface="Wingdings" pitchFamily="2" charset="2"/>
              <a:buChar char="•"/>
              <a:defRPr sz="2100">
                <a:solidFill>
                  <a:schemeClr val="bg2"/>
                </a:solidFill>
                <a:latin typeface="+mn-lt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•"/>
              <a:defRPr sz="2100">
                <a:solidFill>
                  <a:schemeClr val="bg2"/>
                </a:solidFill>
                <a:latin typeface="+mn-lt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5pPr>
            <a:lvl6pPr marL="25146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6pPr>
            <a:lvl7pPr marL="29718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7pPr>
            <a:lvl8pPr marL="34290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8pPr>
            <a:lvl9pPr marL="38862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9pPr>
          </a:lstStyle>
          <a:p>
            <a:pPr marL="914400" lvl="2" indent="0">
              <a:buNone/>
            </a:pPr>
            <a:r>
              <a:rPr lang="es-ES" sz="4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PRÁCTICA 5 – </a:t>
            </a:r>
            <a:r>
              <a:rPr lang="es-ES" sz="4000" dirty="0" err="1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Matching</a:t>
            </a:r>
            <a:r>
              <a:rPr lang="es-ES" sz="4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 1:n</a:t>
            </a:r>
          </a:p>
        </p:txBody>
      </p:sp>
    </p:spTree>
    <p:extLst>
      <p:ext uri="{BB962C8B-B14F-4D97-AF65-F5344CB8AC3E}">
        <p14:creationId xmlns:p14="http://schemas.microsoft.com/office/powerpoint/2010/main" val="34538548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Introducción COBOL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 bwMode="auto">
          <a:xfrm>
            <a:off x="691470" y="1518830"/>
            <a:ext cx="8506827" cy="4781759"/>
          </a:xfrm>
          <a:prstGeom prst="roundRect">
            <a:avLst>
              <a:gd name="adj" fmla="val 5331"/>
            </a:avLst>
          </a:prstGeom>
          <a:solidFill>
            <a:schemeClr val="bg1"/>
          </a:solidFill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1. Introducción al lenguaje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2. Estructura de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3. Sentencias 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4. Acceso a Ficheros de Datos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5. Compilando y Ejecutando un Programa COBOL</a:t>
            </a:r>
          </a:p>
          <a:p>
            <a:pPr lvl="0"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6. Definición y tratamiento de Tablas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7. </a:t>
            </a:r>
            <a:r>
              <a:rPr lang="es-ES" sz="2500" b="0" baseline="0" dirty="0" err="1">
                <a:solidFill>
                  <a:srgbClr val="777777"/>
                </a:solidFill>
                <a:latin typeface="Calibri"/>
              </a:rPr>
              <a:t>Matching</a:t>
            </a:r>
            <a:r>
              <a:rPr lang="es-ES" sz="2500" b="0" baseline="0" dirty="0">
                <a:solidFill>
                  <a:srgbClr val="777777"/>
                </a:solidFill>
                <a:latin typeface="Calibri"/>
              </a:rPr>
              <a:t> de Ficheros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</a:pPr>
            <a:r>
              <a:rPr lang="es-ES" sz="2500" baseline="0" dirty="0">
                <a:solidFill>
                  <a:srgbClr val="9AAE04"/>
                </a:solidFill>
                <a:latin typeface="Calibri"/>
              </a:rPr>
              <a:t>8. Programación </a:t>
            </a:r>
            <a:r>
              <a:rPr lang="es-ES" sz="2500" baseline="0" dirty="0" err="1">
                <a:solidFill>
                  <a:srgbClr val="9AAE04"/>
                </a:solidFill>
                <a:latin typeface="Calibri"/>
              </a:rPr>
              <a:t>multimodular</a:t>
            </a:r>
            <a:endParaRPr lang="es-ES" sz="2500" baseline="0" dirty="0">
              <a:solidFill>
                <a:srgbClr val="9AAE04"/>
              </a:solidFill>
              <a:latin typeface="Calibri"/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485329" y="683965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37222710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Programación </a:t>
            </a:r>
            <a:r>
              <a:rPr lang="es-ES" sz="2500" dirty="0" err="1"/>
              <a:t>Multimodular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68510" y="61195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Definición</a:t>
            </a: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260029"/>
            <a:ext cx="8856984" cy="5328592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597078" y="1569834"/>
            <a:ext cx="85898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endParaRPr lang="es-ES" sz="2500" dirty="0">
              <a:latin typeface="Calibri" pitchFamily="34" charset="0"/>
              <a:cs typeface="Calibri" pitchFamily="34" charset="0"/>
            </a:endParaRPr>
          </a:p>
          <a:p>
            <a:pPr lvl="1" eaLnBrk="1" hangingPunct="1"/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MÓDULOS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Son programas más pequeños que se utilizan para evitar programas 			excesivamente largos</a:t>
            </a:r>
          </a:p>
          <a:p>
            <a:pPr lvl="1" eaLnBrk="1" hangingPunct="1"/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 eaLnBrk="1" hangingPunct="1"/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 eaLnBrk="1" hangingPunct="1"/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COMUNICACIÓN</a:t>
            </a:r>
          </a:p>
          <a:p>
            <a:pPr lvl="1" eaLnBrk="1" hangingPunct="1"/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MÓDULO</a:t>
            </a:r>
            <a:r>
              <a:rPr lang="es-ES" sz="250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LLAMADOR O INVOCANTE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</a:p>
          <a:p>
            <a:pPr lvl="1" eaLnBrk="1" hangingPunct="1"/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	Programa Cobol que traspasará información a otro para realizar las 			operaciones oportunas</a:t>
            </a:r>
          </a:p>
          <a:p>
            <a:pPr lvl="1" eaLnBrk="1" hangingPunct="1"/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</a:t>
            </a:r>
          </a:p>
          <a:p>
            <a:pPr lvl="1" eaLnBrk="1" hangingPunct="1"/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MÓDULO</a:t>
            </a:r>
            <a:r>
              <a:rPr lang="es-ES" sz="250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LLAMADO O RUTINA</a:t>
            </a:r>
          </a:p>
          <a:p>
            <a:pPr lvl="1" eaLnBrk="1" hangingPunct="1"/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 Programa Cobol que necesita un programa llamador para poder ejecutarse</a:t>
            </a:r>
          </a:p>
          <a:p>
            <a:pPr lvl="1" eaLnBrk="1" hangingPunct="1"/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/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CONTROLAR EL RETORNO	  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Es necesario controlar el retorno de la llamada para saber si 			todo</a:t>
            </a:r>
            <a:r>
              <a:rPr lang="es-ES" sz="2500" b="0" baseline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ha funcionado correctamente</a:t>
            </a:r>
          </a:p>
          <a:p>
            <a:pPr lvl="1"/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							</a:t>
            </a:r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344628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 bwMode="auto">
          <a:xfrm>
            <a:off x="485329" y="1260029"/>
            <a:ext cx="8784976" cy="1979523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752513" y="1300560"/>
            <a:ext cx="8589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MÓDULO LLAMADOR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CALL</a:t>
            </a:r>
            <a:r>
              <a:rPr lang="es-ES" sz="30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3000" b="0" i="1" dirty="0" err="1">
                <a:latin typeface="Calibri" pitchFamily="34" charset="0"/>
                <a:cs typeface="Calibri" pitchFamily="34" charset="0"/>
              </a:rPr>
              <a:t>nombre_modulo</a:t>
            </a:r>
            <a:r>
              <a:rPr lang="es-ES" sz="30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3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USING</a:t>
            </a:r>
            <a:r>
              <a:rPr lang="es-ES" sz="3000" b="0" dirty="0">
                <a:latin typeface="Calibri" pitchFamily="34" charset="0"/>
                <a:cs typeface="Calibri" pitchFamily="34" charset="0"/>
              </a:rPr>
              <a:t> </a:t>
            </a:r>
            <a:r>
              <a:rPr lang="es-ES" sz="3000" b="0" i="1" dirty="0">
                <a:latin typeface="Calibri" pitchFamily="34" charset="0"/>
                <a:cs typeface="Calibri" pitchFamily="34" charset="0"/>
              </a:rPr>
              <a:t>parámetros</a:t>
            </a:r>
            <a:r>
              <a:rPr lang="es-ES" sz="3000" b="0" dirty="0">
                <a:latin typeface="Calibri" pitchFamily="34" charset="0"/>
                <a:cs typeface="Calibri" pitchFamily="34" charset="0"/>
              </a:rPr>
              <a:t>.</a:t>
            </a:r>
          </a:p>
          <a:p>
            <a:pPr>
              <a:buFont typeface="Wingdings" pitchFamily="2" charset="2"/>
              <a:buNone/>
              <a:defRPr/>
            </a:pPr>
            <a:endParaRPr lang="es-ES" sz="2500" dirty="0">
              <a:solidFill>
                <a:schemeClr val="tx2"/>
              </a:solidFill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PARÁMETROS</a:t>
            </a: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Estructura con la que pasamos información al módulo llamado</a:t>
            </a:r>
          </a:p>
          <a:p>
            <a:pPr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	Puede estar definida en </a:t>
            </a:r>
            <a:r>
              <a:rPr lang="es-ES" sz="2500" b="0" dirty="0" err="1">
                <a:latin typeface="Calibri" pitchFamily="34" charset="0"/>
                <a:cs typeface="Calibri" pitchFamily="34" charset="0"/>
              </a:rPr>
              <a:t>Working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o ser una COPY.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Programación </a:t>
            </a:r>
            <a:r>
              <a:rPr lang="es-ES" sz="2500" dirty="0" err="1"/>
              <a:t>Multimodular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9" name="1 Título"/>
          <p:cNvSpPr txBox="1">
            <a:spLocks/>
          </p:cNvSpPr>
          <p:nvPr/>
        </p:nvSpPr>
        <p:spPr>
          <a:xfrm>
            <a:off x="468510" y="61195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Módulos</a:t>
            </a:r>
          </a:p>
        </p:txBody>
      </p:sp>
      <p:sp>
        <p:nvSpPr>
          <p:cNvPr id="10" name="9 Rectángulo redondeado"/>
          <p:cNvSpPr/>
          <p:nvPr/>
        </p:nvSpPr>
        <p:spPr bwMode="auto">
          <a:xfrm>
            <a:off x="489818" y="3391952"/>
            <a:ext cx="8780487" cy="3052653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621165" y="3564285"/>
            <a:ext cx="8517792" cy="3221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s-ES" sz="25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  <a:sym typeface="Wingdings" pitchFamily="2" charset="2"/>
              </a:rPr>
              <a:t>MÓDULO LLAMADO O RUTINA</a:t>
            </a:r>
          </a:p>
          <a:p>
            <a:pPr marL="0"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</a:t>
            </a:r>
          </a:p>
          <a:p>
            <a:pPr marL="0"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	</a:t>
            </a:r>
            <a:r>
              <a:rPr lang="es-ES" sz="3000" dirty="0">
                <a:latin typeface="Calibri" pitchFamily="34" charset="0"/>
                <a:cs typeface="Calibri" pitchFamily="34" charset="0"/>
              </a:rPr>
              <a:t>PROCEDURE DIVISION USING </a:t>
            </a:r>
            <a:r>
              <a:rPr lang="es-ES" sz="3000" b="0" i="1" dirty="0" err="1">
                <a:latin typeface="Calibri" pitchFamily="34" charset="0"/>
                <a:cs typeface="Calibri" pitchFamily="34" charset="0"/>
              </a:rPr>
              <a:t>parámetros_linkage</a:t>
            </a:r>
            <a:endParaRPr lang="es-ES" sz="3000" b="0" i="1" dirty="0">
              <a:latin typeface="Calibri" pitchFamily="34" charset="0"/>
              <a:cs typeface="Calibri" pitchFamily="34" charset="0"/>
            </a:endParaRPr>
          </a:p>
          <a:p>
            <a:pPr>
              <a:buFont typeface="Wingdings" pitchFamily="2" charset="2"/>
              <a:buNone/>
              <a:defRPr/>
            </a:pPr>
            <a:endParaRPr lang="es-ES" sz="2500" dirty="0">
              <a:solidFill>
                <a:srgbClr val="9AAE04"/>
              </a:solidFill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500" dirty="0">
                <a:latin typeface="Calibri" pitchFamily="34" charset="0"/>
                <a:cs typeface="Calibri" pitchFamily="34" charset="0"/>
              </a:rPr>
              <a:t>	PARÁMETROS LINKAGE 	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Estructura similar a la definida en el módulo llamador, 			pero declarada en la sección de LINKAGE.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  <a:sym typeface="Wingdings" pitchFamily="2" charset="2"/>
              </a:rPr>
              <a:t>	El módulo llamado no puede ejecutarse por si mismo.</a:t>
            </a: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r>
              <a:rPr lang="es-ES" sz="2500" b="0" dirty="0">
                <a:latin typeface="Calibri" pitchFamily="34" charset="0"/>
                <a:cs typeface="Calibri" pitchFamily="34" charset="0"/>
              </a:rPr>
              <a:t>	El módulo llamado terminará con un </a:t>
            </a:r>
            <a:r>
              <a:rPr lang="es-ES" sz="2500" dirty="0">
                <a:latin typeface="Calibri" pitchFamily="34" charset="0"/>
                <a:cs typeface="Calibri" pitchFamily="34" charset="0"/>
              </a:rPr>
              <a:t>GOBACK</a:t>
            </a:r>
            <a:r>
              <a:rPr lang="es-ES" sz="2500" b="0" dirty="0">
                <a:latin typeface="Calibri" pitchFamily="34" charset="0"/>
                <a:cs typeface="Calibri" pitchFamily="34" charset="0"/>
              </a:rPr>
              <a:t> en vez de con un STOP RUN</a:t>
            </a:r>
          </a:p>
          <a:p>
            <a:pPr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endParaRPr lang="es-ES" sz="2500" b="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0722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 bwMode="auto">
          <a:xfrm>
            <a:off x="485329" y="1188021"/>
            <a:ext cx="3960440" cy="5424634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791034" y="1561289"/>
            <a:ext cx="186013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r" defTabSz="762000">
              <a:lnSpc>
                <a:spcPct val="100000"/>
              </a:lnSpc>
              <a:buClrTx/>
            </a:pPr>
            <a:endParaRPr lang="es-ES_tradnl" sz="2400">
              <a:latin typeface="Times New Roman" pitchFamily="18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943434" y="1713689"/>
            <a:ext cx="186013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r" defTabSz="762000">
              <a:lnSpc>
                <a:spcPct val="100000"/>
              </a:lnSpc>
              <a:buClrTx/>
            </a:pPr>
            <a:endParaRPr lang="es-ES_tradnl" sz="2400">
              <a:latin typeface="Times New Roman" pitchFamily="18" charset="0"/>
            </a:endParaRP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Programación </a:t>
            </a:r>
            <a:r>
              <a:rPr lang="es-ES" sz="2500" dirty="0" err="1"/>
              <a:t>Multimodular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16" name="1 Título"/>
          <p:cNvSpPr txBox="1">
            <a:spLocks/>
          </p:cNvSpPr>
          <p:nvPr/>
        </p:nvSpPr>
        <p:spPr>
          <a:xfrm>
            <a:off x="468510" y="61195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Ejemplo</a:t>
            </a:r>
          </a:p>
          <a:p>
            <a:endParaRPr lang="es-ES" sz="3600" dirty="0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699362" y="1195787"/>
            <a:ext cx="3429000" cy="541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762000">
              <a:lnSpc>
                <a:spcPct val="140000"/>
              </a:lnSpc>
              <a:buClrTx/>
            </a:pPr>
            <a:r>
              <a:rPr lang="es-ES_tradnl" sz="2500" b="1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PROGRAMA INVOCANTE</a:t>
            </a:r>
          </a:p>
          <a:p>
            <a:pPr algn="l" defTabSz="762000">
              <a:lnSpc>
                <a:spcPct val="140000"/>
              </a:lnSpc>
              <a:buClrTx/>
            </a:pP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IDENTIFICATION DIVISION.</a:t>
            </a:r>
          </a:p>
          <a:p>
            <a:pPr algn="l" defTabSz="762000">
              <a:lnSpc>
                <a:spcPct val="90000"/>
              </a:lnSpc>
              <a:buClrTx/>
            </a:pP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…..</a:t>
            </a:r>
            <a:endParaRPr lang="es-ES_tradnl" sz="2000" dirty="0">
              <a:latin typeface="Calibri" pitchFamily="34" charset="0"/>
              <a:cs typeface="Calibri" pitchFamily="34" charset="0"/>
            </a:endParaRP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DATA DIVISION.</a:t>
            </a:r>
          </a:p>
          <a:p>
            <a:pPr algn="l" defTabSz="762000">
              <a:lnSpc>
                <a:spcPct val="90000"/>
              </a:lnSpc>
              <a:buClrTx/>
            </a:pP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…..</a:t>
            </a:r>
            <a:endParaRPr lang="es-ES_tradnl" sz="2000" dirty="0">
              <a:latin typeface="Calibri" pitchFamily="34" charset="0"/>
              <a:cs typeface="Calibri" pitchFamily="34" charset="0"/>
            </a:endParaRP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1" dirty="0">
                <a:solidFill>
                  <a:srgbClr val="3333FF"/>
                </a:solidFill>
                <a:latin typeface="Calibri" pitchFamily="34" charset="0"/>
                <a:cs typeface="Calibri" pitchFamily="34" charset="0"/>
              </a:rPr>
              <a:t>WORKING-STORAGE SECTION.</a:t>
            </a:r>
            <a:endParaRPr lang="es-ES_tradnl" sz="2000" dirty="0">
              <a:latin typeface="Calibri" pitchFamily="34" charset="0"/>
              <a:cs typeface="Calibri" pitchFamily="34" charset="0"/>
            </a:endParaRP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01  VARIABLE   PIC X(100).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01  NOMAPE.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       05  NOMBRE    PIC  X(10).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       05  APELLIDOS  PIC X(10).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01 GESTERR.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      05  CODIGO    PIC 9(3).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      05  DESC          PIC X(120).</a:t>
            </a:r>
          </a:p>
          <a:p>
            <a:pPr algn="l" defTabSz="762000">
              <a:lnSpc>
                <a:spcPct val="100000"/>
              </a:lnSpc>
              <a:buClrTx/>
            </a:pPr>
            <a:endParaRPr lang="es-ES_tradnl" sz="2000" b="1" dirty="0">
              <a:solidFill>
                <a:schemeClr val="hlink"/>
              </a:solidFill>
              <a:latin typeface="Calibri" pitchFamily="34" charset="0"/>
              <a:cs typeface="Calibri" pitchFamily="34" charset="0"/>
            </a:endParaRP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PROCEDURE DIVISION.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          </a:t>
            </a:r>
            <a:r>
              <a:rPr lang="es-ES_tradnl" sz="20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………..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0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         </a:t>
            </a:r>
            <a:r>
              <a:rPr lang="es-ES_tradnl" sz="2000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s-ES_tradnl" sz="2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CALL</a:t>
            </a:r>
            <a:r>
              <a:rPr lang="es-ES_tradnl" sz="2000" dirty="0">
                <a:latin typeface="Calibri" pitchFamily="34" charset="0"/>
                <a:cs typeface="Calibri" pitchFamily="34" charset="0"/>
              </a:rPr>
              <a:t>   </a:t>
            </a:r>
            <a:r>
              <a:rPr lang="es-ES_tradnl" sz="2000" b="0" dirty="0">
                <a:latin typeface="Calibri" pitchFamily="34" charset="0"/>
                <a:cs typeface="Calibri" pitchFamily="34" charset="0"/>
              </a:rPr>
              <a:t>RUTINA  </a:t>
            </a:r>
            <a:r>
              <a:rPr lang="es-ES_tradnl" sz="2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USING</a:t>
            </a:r>
            <a:r>
              <a:rPr lang="es-ES_tradnl" sz="2000" b="0" dirty="0">
                <a:latin typeface="Calibri" pitchFamily="34" charset="0"/>
                <a:cs typeface="Calibri" pitchFamily="34" charset="0"/>
              </a:rPr>
              <a:t>  </a:t>
            </a:r>
            <a:r>
              <a:rPr lang="es-ES_tradnl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NOMAPE</a:t>
            </a:r>
            <a:r>
              <a:rPr lang="es-ES_tradnl" sz="2000" b="1" dirty="0">
                <a:latin typeface="Calibri" pitchFamily="34" charset="0"/>
                <a:cs typeface="Calibri" pitchFamily="34" charset="0"/>
              </a:rPr>
              <a:t>   		                                </a:t>
            </a:r>
            <a:r>
              <a:rPr lang="es-ES_tradnl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GESTERR</a:t>
            </a:r>
            <a:r>
              <a:rPr lang="es-ES_tradnl" sz="2000" b="1" dirty="0">
                <a:latin typeface="Calibri" pitchFamily="34" charset="0"/>
                <a:cs typeface="Calibri" pitchFamily="34" charset="0"/>
              </a:rPr>
              <a:t>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1" dirty="0">
                <a:latin typeface="Calibri" pitchFamily="34" charset="0"/>
                <a:cs typeface="Calibri" pitchFamily="34" charset="0"/>
              </a:rPr>
              <a:t>          </a:t>
            </a:r>
            <a:r>
              <a:rPr lang="es-ES_tradnl" sz="2000" b="0" dirty="0">
                <a:latin typeface="Calibri" pitchFamily="34" charset="0"/>
                <a:cs typeface="Calibri" pitchFamily="34" charset="0"/>
              </a:rPr>
              <a:t>IF  CODIGO = CORRECTO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0" dirty="0">
                <a:latin typeface="Calibri" pitchFamily="34" charset="0"/>
                <a:cs typeface="Calibri" pitchFamily="34" charset="0"/>
              </a:rPr>
              <a:t>                 ACCIONES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0" dirty="0">
                <a:latin typeface="Calibri" pitchFamily="34" charset="0"/>
                <a:cs typeface="Calibri" pitchFamily="34" charset="0"/>
              </a:rPr>
              <a:t>          ELSE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0" dirty="0">
                <a:latin typeface="Calibri" pitchFamily="34" charset="0"/>
                <a:cs typeface="Calibri" pitchFamily="34" charset="0"/>
              </a:rPr>
              <a:t>                  OTRAS-ACCIONES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0" dirty="0">
                <a:latin typeface="Calibri" pitchFamily="34" charset="0"/>
                <a:cs typeface="Calibri" pitchFamily="34" charset="0"/>
              </a:rPr>
              <a:t>          END-IF.</a:t>
            </a:r>
          </a:p>
          <a:p>
            <a:pPr algn="l" defTabSz="762000">
              <a:lnSpc>
                <a:spcPct val="100000"/>
              </a:lnSpc>
              <a:buClrTx/>
            </a:pPr>
            <a:endParaRPr lang="es-ES_tradnl" sz="2000" b="0" dirty="0">
              <a:latin typeface="Calibri" pitchFamily="34" charset="0"/>
              <a:cs typeface="Calibri" pitchFamily="34" charset="0"/>
            </a:endParaRP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        STOP RUN.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4768404" y="1208151"/>
            <a:ext cx="3960440" cy="5211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defTabSz="762000">
              <a:lnSpc>
                <a:spcPct val="140000"/>
              </a:lnSpc>
              <a:buClrTx/>
            </a:pPr>
            <a:r>
              <a:rPr lang="es-ES_tradnl" sz="2500" b="1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RUTINA</a:t>
            </a:r>
          </a:p>
          <a:p>
            <a:pPr algn="l" defTabSz="762000">
              <a:lnSpc>
                <a:spcPct val="140000"/>
              </a:lnSpc>
              <a:buClrTx/>
            </a:pP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IDENTIFICATION DIVISION.</a:t>
            </a:r>
          </a:p>
          <a:p>
            <a:pPr algn="l" defTabSz="762000">
              <a:lnSpc>
                <a:spcPct val="90000"/>
              </a:lnSpc>
              <a:buClrTx/>
            </a:pP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…..</a:t>
            </a:r>
            <a:endParaRPr lang="es-ES_tradnl" sz="2000" dirty="0">
              <a:latin typeface="Calibri" pitchFamily="34" charset="0"/>
              <a:cs typeface="Calibri" pitchFamily="34" charset="0"/>
            </a:endParaRP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DATA DIVISION.</a:t>
            </a:r>
          </a:p>
          <a:p>
            <a:pPr algn="l" defTabSz="762000">
              <a:lnSpc>
                <a:spcPct val="90000"/>
              </a:lnSpc>
              <a:buClrTx/>
            </a:pP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…..</a:t>
            </a:r>
            <a:endParaRPr lang="es-ES_tradnl" sz="2000" dirty="0">
              <a:latin typeface="Calibri" pitchFamily="34" charset="0"/>
              <a:cs typeface="Calibri" pitchFamily="34" charset="0"/>
            </a:endParaRP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1" dirty="0">
                <a:solidFill>
                  <a:srgbClr val="3333FF"/>
                </a:solidFill>
                <a:latin typeface="Calibri" pitchFamily="34" charset="0"/>
                <a:cs typeface="Calibri" pitchFamily="34" charset="0"/>
              </a:rPr>
              <a:t>WORKING-STORAGE SECTION.</a:t>
            </a:r>
            <a:endParaRPr lang="es-ES_tradnl" sz="2000" dirty="0">
              <a:latin typeface="Calibri" pitchFamily="34" charset="0"/>
              <a:cs typeface="Calibri" pitchFamily="34" charset="0"/>
            </a:endParaRP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0" dirty="0">
                <a:latin typeface="Calibri" pitchFamily="34" charset="0"/>
                <a:cs typeface="Calibri" pitchFamily="34" charset="0"/>
              </a:rPr>
              <a:t>01  VARIABLE   PIC X(100).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0" dirty="0">
                <a:latin typeface="Calibri" pitchFamily="34" charset="0"/>
                <a:cs typeface="Calibri" pitchFamily="34" charset="0"/>
              </a:rPr>
              <a:t>01  ERRONEO    PIC (3)  VALUE 75.</a:t>
            </a:r>
          </a:p>
          <a:p>
            <a:pPr algn="l" defTabSz="762000">
              <a:lnSpc>
                <a:spcPct val="100000"/>
              </a:lnSpc>
              <a:buClrTx/>
            </a:pPr>
            <a:endParaRPr lang="es-ES_tradnl" sz="2000" dirty="0">
              <a:latin typeface="Calibri" pitchFamily="34" charset="0"/>
              <a:cs typeface="Calibri" pitchFamily="34" charset="0"/>
            </a:endParaRP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1" dirty="0">
                <a:solidFill>
                  <a:srgbClr val="3333FF"/>
                </a:solidFill>
                <a:latin typeface="Calibri" pitchFamily="34" charset="0"/>
                <a:cs typeface="Calibri" pitchFamily="34" charset="0"/>
              </a:rPr>
              <a:t>LINKAGE SECTION.</a:t>
            </a:r>
            <a:endParaRPr lang="es-ES_tradnl" sz="2000" dirty="0">
              <a:latin typeface="Calibri" pitchFamily="34" charset="0"/>
              <a:cs typeface="Calibri" pitchFamily="34" charset="0"/>
            </a:endParaRP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01  NOMAPE.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     05  NOMBRE    PIC  X(10).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     05  APELLIDOS  PIC X(10).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01 GESTERR.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     05  CODIGO    PIC 9(3).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latin typeface="Calibri" pitchFamily="34" charset="0"/>
                <a:cs typeface="Calibri" pitchFamily="34" charset="0"/>
              </a:rPr>
              <a:t>     05  DESC          PIC X(120).</a:t>
            </a:r>
          </a:p>
          <a:p>
            <a:pPr algn="l" defTabSz="762000">
              <a:lnSpc>
                <a:spcPct val="100000"/>
              </a:lnSpc>
              <a:buClrTx/>
            </a:pPr>
            <a:endParaRPr lang="es-ES_tradnl" sz="2000" b="1" dirty="0">
              <a:solidFill>
                <a:schemeClr val="hlink"/>
              </a:solidFill>
              <a:latin typeface="Calibri" pitchFamily="34" charset="0"/>
              <a:cs typeface="Calibri" pitchFamily="34" charset="0"/>
            </a:endParaRP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PROCEDURE DIVISION  </a:t>
            </a:r>
            <a:r>
              <a:rPr lang="es-ES_tradnl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USING NOAMPE GESTERR</a:t>
            </a:r>
            <a:r>
              <a:rPr lang="es-ES_tradnl" sz="2000" b="1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.   </a:t>
            </a:r>
            <a:r>
              <a:rPr lang="es-ES_tradnl" sz="2000" b="1" dirty="0">
                <a:latin typeface="Calibri" pitchFamily="34" charset="0"/>
                <a:cs typeface="Calibri" pitchFamily="34" charset="0"/>
              </a:rPr>
              <a:t> 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0" dirty="0">
                <a:latin typeface="Calibri" pitchFamily="34" charset="0"/>
                <a:cs typeface="Calibri" pitchFamily="34" charset="0"/>
              </a:rPr>
              <a:t>          IF  NOMBRE EQUAL TO  SPACES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0" dirty="0">
                <a:latin typeface="Calibri" pitchFamily="34" charset="0"/>
                <a:cs typeface="Calibri" pitchFamily="34" charset="0"/>
              </a:rPr>
              <a:t>                MOVE ERRONEO  TO CODIGO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0" dirty="0">
                <a:latin typeface="Calibri" pitchFamily="34" charset="0"/>
                <a:cs typeface="Calibri" pitchFamily="34" charset="0"/>
              </a:rPr>
              <a:t>                GOBACK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0" dirty="0">
                <a:latin typeface="Calibri" pitchFamily="34" charset="0"/>
                <a:cs typeface="Calibri" pitchFamily="34" charset="0"/>
              </a:rPr>
              <a:t>           END-IF.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b="0" dirty="0">
                <a:latin typeface="Calibri" pitchFamily="34" charset="0"/>
                <a:cs typeface="Calibri" pitchFamily="34" charset="0"/>
              </a:rPr>
              <a:t>          </a:t>
            </a:r>
            <a:r>
              <a:rPr lang="es-ES_tradnl" sz="2000" b="0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……...</a:t>
            </a:r>
            <a:r>
              <a:rPr lang="es-ES_tradnl" sz="2000" b="0" dirty="0">
                <a:latin typeface="Calibri" pitchFamily="34" charset="0"/>
                <a:cs typeface="Calibri" pitchFamily="34" charset="0"/>
              </a:rPr>
              <a:t>    </a:t>
            </a:r>
          </a:p>
          <a:p>
            <a:pPr algn="l" defTabSz="762000">
              <a:lnSpc>
                <a:spcPct val="100000"/>
              </a:lnSpc>
              <a:buClrTx/>
            </a:pPr>
            <a:r>
              <a:rPr lang="es-ES_tradnl" sz="2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        GOBACK.</a:t>
            </a:r>
          </a:p>
        </p:txBody>
      </p:sp>
      <p:sp>
        <p:nvSpPr>
          <p:cNvPr id="13" name="12 Rectángulo redondeado"/>
          <p:cNvSpPr/>
          <p:nvPr/>
        </p:nvSpPr>
        <p:spPr bwMode="auto">
          <a:xfrm>
            <a:off x="4572000" y="1188021"/>
            <a:ext cx="3960440" cy="5424634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36821510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395288"/>
            <a:ext cx="7178675" cy="384721"/>
          </a:xfrm>
          <a:noFill/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s-ES" sz="2500" dirty="0"/>
              <a:t>Programación </a:t>
            </a:r>
            <a:r>
              <a:rPr lang="es-ES" sz="2500" dirty="0" err="1"/>
              <a:t>Multimodular</a:t>
            </a:r>
            <a:endParaRPr lang="es-ES" sz="2400" dirty="0">
              <a:solidFill>
                <a:srgbClr val="B9D405"/>
              </a:solidFill>
            </a:endParaRPr>
          </a:p>
        </p:txBody>
      </p:sp>
      <p:sp>
        <p:nvSpPr>
          <p:cNvPr id="7" name="6 Rectángulo redondeado"/>
          <p:cNvSpPr/>
          <p:nvPr/>
        </p:nvSpPr>
        <p:spPr bwMode="auto">
          <a:xfrm>
            <a:off x="485329" y="1620069"/>
            <a:ext cx="8640960" cy="4320480"/>
          </a:xfrm>
          <a:prstGeom prst="roundRect">
            <a:avLst>
              <a:gd name="adj" fmla="val 5331"/>
            </a:avLst>
          </a:prstGeom>
          <a:noFill/>
          <a:ln w="28575" cap="flat" cmpd="sng" algn="ctr">
            <a:solidFill>
              <a:srgbClr val="9AAE0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fontAlgn="auto">
              <a:spcBef>
                <a:spcPct val="30000"/>
              </a:spcBef>
              <a:spcAft>
                <a:spcPts val="0"/>
              </a:spcAft>
            </a:pPr>
            <a:endParaRPr lang="es-ES" sz="2500" b="0" baseline="0" dirty="0">
              <a:solidFill>
                <a:srgbClr val="777777"/>
              </a:solidFill>
              <a:latin typeface="Calibri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lang="es-ES" dirty="0">
              <a:solidFill>
                <a:srgbClr val="737373"/>
              </a:solidFill>
              <a:latin typeface="ArialMT"/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487015" y="611957"/>
            <a:ext cx="8280000" cy="432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9AAE04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s-ES" sz="3600" dirty="0"/>
              <a:t>Práctica 6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322759" y="2628181"/>
            <a:ext cx="4608512" cy="8640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Font typeface="Wingdings" pitchFamily="2" charset="2"/>
              <a:buChar char="–"/>
              <a:defRPr sz="2100">
                <a:solidFill>
                  <a:schemeClr val="bg2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Font typeface="Wingdings" pitchFamily="2" charset="2"/>
              <a:buChar char="•"/>
              <a:defRPr sz="2100">
                <a:solidFill>
                  <a:schemeClr val="bg2"/>
                </a:solidFill>
                <a:latin typeface="+mn-lt"/>
              </a:defRPr>
            </a:lvl3pPr>
            <a:lvl4pPr marL="16002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•"/>
              <a:defRPr sz="2100">
                <a:solidFill>
                  <a:schemeClr val="bg2"/>
                </a:solidFill>
                <a:latin typeface="+mn-lt"/>
              </a:defRPr>
            </a:lvl4pPr>
            <a:lvl5pPr marL="205740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5pPr>
            <a:lvl6pPr marL="25146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6pPr>
            <a:lvl7pPr marL="29718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7pPr>
            <a:lvl8pPr marL="34290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8pPr>
            <a:lvl9pPr marL="3886200" indent="-228600" algn="l" rtl="0" fontAlgn="base">
              <a:lnSpc>
                <a:spcPct val="95000"/>
              </a:lnSpc>
              <a:spcBef>
                <a:spcPct val="30000"/>
              </a:spcBef>
              <a:spcAft>
                <a:spcPct val="15000"/>
              </a:spcAft>
              <a:buClr>
                <a:schemeClr val="accent2"/>
              </a:buClr>
              <a:buChar char="–"/>
              <a:defRPr sz="2100">
                <a:solidFill>
                  <a:schemeClr val="bg2"/>
                </a:solidFill>
                <a:latin typeface="+mn-lt"/>
              </a:defRPr>
            </a:lvl9pPr>
          </a:lstStyle>
          <a:p>
            <a:pPr marL="914400" lvl="2" indent="0">
              <a:buNone/>
            </a:pPr>
            <a:r>
              <a:rPr lang="es-ES" sz="4000" dirty="0">
                <a:solidFill>
                  <a:srgbClr val="9AAE04"/>
                </a:solidFill>
                <a:latin typeface="Calibri" pitchFamily="34" charset="0"/>
                <a:cs typeface="Calibri" pitchFamily="34" charset="0"/>
              </a:rPr>
              <a:t>PRÁCTICA 6 - RUTINA</a:t>
            </a:r>
            <a:endParaRPr lang="es-ES" sz="4000" b="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5770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286121" y="5868295"/>
            <a:ext cx="705032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defTabSz="914614">
              <a:spcBef>
                <a:spcPct val="50000"/>
              </a:spcBef>
            </a:pPr>
            <a:r>
              <a:rPr lang="es-ES">
                <a:solidFill>
                  <a:srgbClr val="808080"/>
                </a:solidFill>
              </a:rPr>
              <a:t>	 </a:t>
            </a:r>
            <a:endParaRPr lang="es-ES_tradnl">
              <a:solidFill>
                <a:srgbClr val="808080"/>
              </a:solidFill>
            </a:endParaRP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3540" y="5252331"/>
            <a:ext cx="1185103" cy="1129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15129" y="128261"/>
            <a:ext cx="5390867" cy="3412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3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ES"/>
            </a:br>
            <a:endParaRPr lang="es-ES"/>
          </a:p>
        </p:txBody>
      </p:sp>
      <p:sp>
        <p:nvSpPr>
          <p:cNvPr id="22534" name="5 Marcador de contenido"/>
          <p:cNvSpPr>
            <a:spLocks noGrp="1"/>
          </p:cNvSpPr>
          <p:nvPr>
            <p:ph sz="half" idx="1"/>
          </p:nvPr>
        </p:nvSpPr>
        <p:spPr>
          <a:xfrm>
            <a:off x="2286122" y="4707621"/>
            <a:ext cx="3449013" cy="1146423"/>
          </a:xfrm>
        </p:spPr>
        <p:txBody>
          <a:bodyPr/>
          <a:lstStyle/>
          <a:p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727138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4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CCC33"/>
      </a:accent1>
      <a:accent2>
        <a:srgbClr val="66CC00"/>
      </a:accent2>
      <a:accent3>
        <a:srgbClr val="FFFFFF"/>
      </a:accent3>
      <a:accent4>
        <a:srgbClr val="000000"/>
      </a:accent4>
      <a:accent5>
        <a:srgbClr val="E2E2AD"/>
      </a:accent5>
      <a:accent6>
        <a:srgbClr val="5CB900"/>
      </a:accent6>
      <a:hlink>
        <a:srgbClr val="0099CC"/>
      </a:hlink>
      <a:folHlink>
        <a:srgbClr val="666699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400" b="1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400" b="1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iseño predeterminado">
  <a:themeElements>
    <a:clrScheme name="2_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400" b="1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400" b="1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2_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29BC27D83CCE94188F6D8BFEF49633A" ma:contentTypeVersion="5" ma:contentTypeDescription="Crear nuevo documento." ma:contentTypeScope="" ma:versionID="440cb78ca619ae14cc1c4a5a211c8c8c">
  <xsd:schema xmlns:xsd="http://www.w3.org/2001/XMLSchema" xmlns:xs="http://www.w3.org/2001/XMLSchema" xmlns:p="http://schemas.microsoft.com/office/2006/metadata/properties" xmlns:ns2="c603c241-3a35-4ed8-813d-624f529d8b03" xmlns:ns3="058fdd79-2e5c-4e37-b980-413003f9ed69" targetNamespace="http://schemas.microsoft.com/office/2006/metadata/properties" ma:root="true" ma:fieldsID="c8059c5d6c4bf57426f923db82aeea0e" ns2:_="" ns3:_="">
    <xsd:import namespace="c603c241-3a35-4ed8-813d-624f529d8b03"/>
    <xsd:import namespace="058fdd79-2e5c-4e37-b980-413003f9ed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at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03c241-3a35-4ed8-813d-624f529d8b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ate" ma:index="10" nillable="true" ma:displayName="Date" ma:format="DateTime" ma:internalName="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8fdd79-2e5c-4e37-b980-413003f9ed6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 xmlns="c603c241-3a35-4ed8-813d-624f529d8b03" xsi:nil="true"/>
  </documentManagement>
</p:properties>
</file>

<file path=customXml/itemProps1.xml><?xml version="1.0" encoding="utf-8"?>
<ds:datastoreItem xmlns:ds="http://schemas.openxmlformats.org/officeDocument/2006/customXml" ds:itemID="{AD25517C-E407-43FC-9CD6-138528C78C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03c241-3a35-4ed8-813d-624f529d8b03"/>
    <ds:schemaRef ds:uri="058fdd79-2e5c-4e37-b980-413003f9ed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143D69-94A2-4B4A-855B-D8EB08E107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0213DF-7A4E-42B7-9EF6-5FE4736CC729}">
  <ds:schemaRefs>
    <ds:schemaRef ds:uri="http://schemas.microsoft.com/office/2006/metadata/properties"/>
    <ds:schemaRef ds:uri="http://schemas.microsoft.com/office/infopath/2007/PartnerControls"/>
    <ds:schemaRef ds:uri="c603c241-3a35-4ed8-813d-624f529d8b0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5697</Words>
  <Application>Microsoft Office PowerPoint</Application>
  <PresentationFormat>Personalizado</PresentationFormat>
  <Paragraphs>1015</Paragraphs>
  <Slides>69</Slides>
  <Notes>69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69</vt:i4>
      </vt:variant>
    </vt:vector>
  </HeadingPairs>
  <TitlesOfParts>
    <vt:vector size="77" baseType="lpstr">
      <vt:lpstr>Arial</vt:lpstr>
      <vt:lpstr>ArialMT</vt:lpstr>
      <vt:lpstr>Calibri</vt:lpstr>
      <vt:lpstr>Tahoma</vt:lpstr>
      <vt:lpstr>Times New Roman</vt:lpstr>
      <vt:lpstr>Wingdings</vt:lpstr>
      <vt:lpstr>Blank</vt:lpstr>
      <vt:lpstr>2_Diseño predeterminado</vt:lpstr>
      <vt:lpstr>Presentación de PowerPoint</vt:lpstr>
      <vt:lpstr>Introducción COBOL</vt:lpstr>
      <vt:lpstr>Introducción COBOL</vt:lpstr>
      <vt:lpstr>Introducción al lenguaje COBOL</vt:lpstr>
      <vt:lpstr>Introducción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Estructura de un programa COBOL</vt:lpstr>
      <vt:lpstr>Introducción COBOL</vt:lpstr>
      <vt:lpstr>Sentencias</vt:lpstr>
      <vt:lpstr>Sentencias</vt:lpstr>
      <vt:lpstr>Sentencias</vt:lpstr>
      <vt:lpstr>Sentencias</vt:lpstr>
      <vt:lpstr>Sentencias</vt:lpstr>
      <vt:lpstr>Sentencias</vt:lpstr>
      <vt:lpstr>Sentencias</vt:lpstr>
      <vt:lpstr>Sentencias</vt:lpstr>
      <vt:lpstr>Sentencias</vt:lpstr>
      <vt:lpstr>Introducción COBOL</vt:lpstr>
      <vt:lpstr>Acceso a fichero de datos</vt:lpstr>
      <vt:lpstr>Acceso a fichero de datos</vt:lpstr>
      <vt:lpstr>Acceso a fichero de datos</vt:lpstr>
      <vt:lpstr>Acceso a fichero de datos</vt:lpstr>
      <vt:lpstr>Introducción COBOL</vt:lpstr>
      <vt:lpstr>Compilando y ejecutando un programa COBOL</vt:lpstr>
      <vt:lpstr>Introducción  COBOL</vt:lpstr>
      <vt:lpstr>Introducción COBOL</vt:lpstr>
      <vt:lpstr>Definición y tratamiento de Tablas</vt:lpstr>
      <vt:lpstr>Definición y tratamiento de Tablas</vt:lpstr>
      <vt:lpstr>Definición y tratamiento de Tablas</vt:lpstr>
      <vt:lpstr>Definición y tratamiento de Tablas</vt:lpstr>
      <vt:lpstr>Definición y tratamiento de Tablas</vt:lpstr>
      <vt:lpstr>Definición y tratamiento de Tablas</vt:lpstr>
      <vt:lpstr>Definición y tratamiento de Tablas</vt:lpstr>
      <vt:lpstr>Definición y tratamiento de Tablas</vt:lpstr>
      <vt:lpstr>Introducción COBOL</vt:lpstr>
      <vt:lpstr>Matching de ficheros</vt:lpstr>
      <vt:lpstr>Matching de ficheros</vt:lpstr>
      <vt:lpstr>Matching de ficheros</vt:lpstr>
      <vt:lpstr>Matching de ficheros</vt:lpstr>
      <vt:lpstr>Matching de ficheros</vt:lpstr>
      <vt:lpstr>Matching de ficheros</vt:lpstr>
      <vt:lpstr>Introducción COBOL</vt:lpstr>
      <vt:lpstr>Programación Multimodular</vt:lpstr>
      <vt:lpstr>Programación Multimodular</vt:lpstr>
      <vt:lpstr>Programación Multimodular</vt:lpstr>
      <vt:lpstr>Programación Multimodular</vt:lpstr>
      <vt:lpstr> </vt:lpstr>
    </vt:vector>
  </TitlesOfParts>
  <Company>everis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everis</dc:creator>
  <cp:lastModifiedBy>Adriana Corona Ruiz</cp:lastModifiedBy>
  <cp:revision>819</cp:revision>
  <dcterms:created xsi:type="dcterms:W3CDTF">2006-09-21T13:57:47Z</dcterms:created>
  <dcterms:modified xsi:type="dcterms:W3CDTF">2026-02-26T23:40:46Z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0x010100429BC27D83CCE94188F6D8BFEF49633A</vt:lpwstr>
  </property>
  <property fmtid="{D5CDD505-2E9C-101B-9397-08002B2CF9AE}" pid="3" name="AuthorIds_UIVersion_512">
    <vt:lpwstr>15</vt:lpwstr>
  </property>
</Properties>
</file>